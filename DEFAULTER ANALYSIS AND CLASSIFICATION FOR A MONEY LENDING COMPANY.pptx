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Bold" charset="1" panose="02030802070405020303"/>
      <p:regular r:id="rId16"/>
    </p:embeddedFont>
    <p:embeddedFont>
      <p:font typeface="Times New Roman" charset="1" panose="020305020704050203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15.png" Type="http://schemas.openxmlformats.org/officeDocument/2006/relationships/image"/><Relationship Id="rId21" Target="../media/image16.svg" Type="http://schemas.openxmlformats.org/officeDocument/2006/relationships/image"/><Relationship Id="rId22" Target="../media/image7.png" Type="http://schemas.openxmlformats.org/officeDocument/2006/relationships/image"/><Relationship Id="rId23" Target="../media/image8.svg" Type="http://schemas.openxmlformats.org/officeDocument/2006/relationships/image"/><Relationship Id="rId24" Target="../media/image32.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567221" y="-642644"/>
            <a:ext cx="3580361" cy="2242201"/>
          </a:xfrm>
          <a:custGeom>
            <a:avLst/>
            <a:gdLst/>
            <a:ahLst/>
            <a:cxnLst/>
            <a:rect r="r" b="b" t="t" l="l"/>
            <a:pathLst>
              <a:path h="2242201" w="3580361">
                <a:moveTo>
                  <a:pt x="0" y="0"/>
                </a:moveTo>
                <a:lnTo>
                  <a:pt x="3580361" y="0"/>
                </a:lnTo>
                <a:lnTo>
                  <a:pt x="3580361" y="2242201"/>
                </a:lnTo>
                <a:lnTo>
                  <a:pt x="0" y="22422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6712303" y="-873819"/>
            <a:ext cx="2511851" cy="2704550"/>
          </a:xfrm>
          <a:custGeom>
            <a:avLst/>
            <a:gdLst/>
            <a:ahLst/>
            <a:cxnLst/>
            <a:rect r="r" b="b" t="t" l="l"/>
            <a:pathLst>
              <a:path h="2704550" w="2511851">
                <a:moveTo>
                  <a:pt x="0" y="0"/>
                </a:moveTo>
                <a:lnTo>
                  <a:pt x="2511851" y="0"/>
                </a:lnTo>
                <a:lnTo>
                  <a:pt x="2511851" y="2704551"/>
                </a:lnTo>
                <a:lnTo>
                  <a:pt x="0" y="27045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6" id="6"/>
          <p:cNvSpPr txBox="true"/>
          <p:nvPr/>
        </p:nvSpPr>
        <p:spPr>
          <a:xfrm rot="0">
            <a:off x="5468776" y="8530611"/>
            <a:ext cx="7176577" cy="974267"/>
          </a:xfrm>
          <a:prstGeom prst="rect">
            <a:avLst/>
          </a:prstGeom>
        </p:spPr>
        <p:txBody>
          <a:bodyPr anchor="t" rtlCol="false" tIns="0" lIns="0" bIns="0" rIns="0">
            <a:spAutoFit/>
          </a:bodyPr>
          <a:lstStyle/>
          <a:p>
            <a:pPr algn="ctr">
              <a:lnSpc>
                <a:spcPts val="3481"/>
              </a:lnSpc>
            </a:pPr>
            <a:r>
              <a:rPr lang="en-US" sz="3481" spc="-69">
                <a:solidFill>
                  <a:srgbClr val="000000"/>
                </a:solidFill>
                <a:latin typeface="Times New Roman Bold"/>
                <a:ea typeface="Times New Roman Bold"/>
                <a:cs typeface="Times New Roman Bold"/>
                <a:sym typeface="Times New Roman Bold"/>
              </a:rPr>
              <a:t>NAME: HARSHIL PANDEY</a:t>
            </a:r>
          </a:p>
          <a:p>
            <a:pPr algn="ctr">
              <a:lnSpc>
                <a:spcPts val="3481"/>
              </a:lnSpc>
            </a:pPr>
            <a:r>
              <a:rPr lang="en-US" sz="3481" spc="-69">
                <a:solidFill>
                  <a:srgbClr val="000000"/>
                </a:solidFill>
                <a:latin typeface="Times New Roman Bold"/>
                <a:ea typeface="Times New Roman Bold"/>
                <a:cs typeface="Times New Roman Bold"/>
                <a:sym typeface="Times New Roman Bold"/>
              </a:rPr>
              <a:t>ROLL NO: 22F1001864</a:t>
            </a:r>
          </a:p>
        </p:txBody>
      </p:sp>
      <p:sp>
        <p:nvSpPr>
          <p:cNvPr name="TextBox 7" id="7"/>
          <p:cNvSpPr txBox="true"/>
          <p:nvPr/>
        </p:nvSpPr>
        <p:spPr>
          <a:xfrm rot="0">
            <a:off x="1745985" y="2292232"/>
            <a:ext cx="14717409" cy="1287956"/>
          </a:xfrm>
          <a:prstGeom prst="rect">
            <a:avLst/>
          </a:prstGeom>
        </p:spPr>
        <p:txBody>
          <a:bodyPr anchor="t" rtlCol="false" tIns="0" lIns="0" bIns="0" rIns="0">
            <a:spAutoFit/>
          </a:bodyPr>
          <a:lstStyle/>
          <a:p>
            <a:pPr algn="ctr" marL="0" indent="0" lvl="1">
              <a:lnSpc>
                <a:spcPts val="4581"/>
              </a:lnSpc>
              <a:spcBef>
                <a:spcPct val="0"/>
              </a:spcBef>
            </a:pPr>
            <a:r>
              <a:rPr lang="en-US" sz="4581" spc="-91" strike="noStrike" u="none">
                <a:solidFill>
                  <a:srgbClr val="000000"/>
                </a:solidFill>
                <a:latin typeface="Times New Roman Bold"/>
                <a:ea typeface="Times New Roman Bold"/>
                <a:cs typeface="Times New Roman Bold"/>
                <a:sym typeface="Times New Roman Bold"/>
              </a:rPr>
              <a:t>DEFAULTER ANALYSIS AND CLASSIFICATION FOR A MONEY LENDING COMPANY</a:t>
            </a:r>
          </a:p>
        </p:txBody>
      </p:sp>
      <p:sp>
        <p:nvSpPr>
          <p:cNvPr name="Freeform 8" id="8"/>
          <p:cNvSpPr/>
          <p:nvPr/>
        </p:nvSpPr>
        <p:spPr>
          <a:xfrm flipH="false" flipV="false" rot="0">
            <a:off x="5593074" y="4282388"/>
            <a:ext cx="7101852" cy="3008603"/>
          </a:xfrm>
          <a:custGeom>
            <a:avLst/>
            <a:gdLst/>
            <a:ahLst/>
            <a:cxnLst/>
            <a:rect r="r" b="b" t="t" l="l"/>
            <a:pathLst>
              <a:path h="3008603" w="7101852">
                <a:moveTo>
                  <a:pt x="0" y="0"/>
                </a:moveTo>
                <a:lnTo>
                  <a:pt x="7101852" y="0"/>
                </a:lnTo>
                <a:lnTo>
                  <a:pt x="7101852" y="3008603"/>
                </a:lnTo>
                <a:lnTo>
                  <a:pt x="0" y="30086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70684" y="2565909"/>
            <a:ext cx="8427283" cy="1216613"/>
          </a:xfrm>
          <a:prstGeom prst="rect">
            <a:avLst/>
          </a:prstGeom>
        </p:spPr>
        <p:txBody>
          <a:bodyPr anchor="t" rtlCol="false" tIns="0" lIns="0" bIns="0" rIns="0">
            <a:spAutoFit/>
          </a:bodyPr>
          <a:lstStyle/>
          <a:p>
            <a:pPr algn="l">
              <a:lnSpc>
                <a:spcPts val="7821"/>
              </a:lnSpc>
            </a:pPr>
            <a:r>
              <a:rPr lang="en-US" sz="8063" u="sng">
                <a:solidFill>
                  <a:srgbClr val="000000"/>
                </a:solidFill>
                <a:latin typeface="Times New Roman Bold"/>
                <a:ea typeface="Times New Roman Bold"/>
                <a:cs typeface="Times New Roman Bold"/>
                <a:sym typeface="Times New Roman Bold"/>
              </a:rPr>
              <a:t>About the Business</a:t>
            </a:r>
          </a:p>
        </p:txBody>
      </p:sp>
      <p:grpSp>
        <p:nvGrpSpPr>
          <p:cNvPr name="Group 3" id="3"/>
          <p:cNvGrpSpPr/>
          <p:nvPr/>
        </p:nvGrpSpPr>
        <p:grpSpPr>
          <a:xfrm rot="0">
            <a:off x="8833635" y="1221183"/>
            <a:ext cx="9048607" cy="3922317"/>
            <a:chOff x="0" y="0"/>
            <a:chExt cx="3029096" cy="1313028"/>
          </a:xfrm>
        </p:grpSpPr>
        <p:sp>
          <p:nvSpPr>
            <p:cNvPr name="Freeform 4" id="4"/>
            <p:cNvSpPr/>
            <p:nvPr/>
          </p:nvSpPr>
          <p:spPr>
            <a:xfrm flipH="false" flipV="false" rot="0">
              <a:off x="0" y="0"/>
              <a:ext cx="3029096" cy="1313028"/>
            </a:xfrm>
            <a:custGeom>
              <a:avLst/>
              <a:gdLst/>
              <a:ahLst/>
              <a:cxnLst/>
              <a:rect r="r" b="b" t="t" l="l"/>
              <a:pathLst>
                <a:path h="1313028" w="3029096">
                  <a:moveTo>
                    <a:pt x="12834" y="0"/>
                  </a:moveTo>
                  <a:lnTo>
                    <a:pt x="3016262" y="0"/>
                  </a:lnTo>
                  <a:cubicBezTo>
                    <a:pt x="3019666" y="0"/>
                    <a:pt x="3022930" y="1352"/>
                    <a:pt x="3025337" y="3759"/>
                  </a:cubicBezTo>
                  <a:cubicBezTo>
                    <a:pt x="3027744" y="6166"/>
                    <a:pt x="3029096" y="9430"/>
                    <a:pt x="3029096" y="12834"/>
                  </a:cubicBezTo>
                  <a:lnTo>
                    <a:pt x="3029096" y="1300194"/>
                  </a:lnTo>
                  <a:cubicBezTo>
                    <a:pt x="3029096" y="1303598"/>
                    <a:pt x="3027744" y="1306862"/>
                    <a:pt x="3025337" y="1309269"/>
                  </a:cubicBezTo>
                  <a:cubicBezTo>
                    <a:pt x="3022930" y="1311676"/>
                    <a:pt x="3019666" y="1313028"/>
                    <a:pt x="3016262" y="1313028"/>
                  </a:cubicBezTo>
                  <a:lnTo>
                    <a:pt x="12834" y="1313028"/>
                  </a:lnTo>
                  <a:cubicBezTo>
                    <a:pt x="9430" y="1313028"/>
                    <a:pt x="6166" y="1311676"/>
                    <a:pt x="3759" y="1309269"/>
                  </a:cubicBezTo>
                  <a:cubicBezTo>
                    <a:pt x="1352" y="1306862"/>
                    <a:pt x="0" y="1303598"/>
                    <a:pt x="0" y="1300194"/>
                  </a:cubicBezTo>
                  <a:lnTo>
                    <a:pt x="0" y="12834"/>
                  </a:lnTo>
                  <a:cubicBezTo>
                    <a:pt x="0" y="9430"/>
                    <a:pt x="1352" y="6166"/>
                    <a:pt x="3759" y="3759"/>
                  </a:cubicBezTo>
                  <a:cubicBezTo>
                    <a:pt x="6166" y="1352"/>
                    <a:pt x="9430" y="0"/>
                    <a:pt x="12834" y="0"/>
                  </a:cubicBezTo>
                  <a:close/>
                </a:path>
              </a:pathLst>
            </a:custGeom>
            <a:solidFill>
              <a:srgbClr val="8AB7E2">
                <a:alpha val="77647"/>
              </a:srgbClr>
            </a:solidFill>
          </p:spPr>
        </p:sp>
        <p:sp>
          <p:nvSpPr>
            <p:cNvPr name="TextBox 5" id="5"/>
            <p:cNvSpPr txBox="true"/>
            <p:nvPr/>
          </p:nvSpPr>
          <p:spPr>
            <a:xfrm>
              <a:off x="0" y="85725"/>
              <a:ext cx="3029096" cy="1227303"/>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8662539" y="1271121"/>
            <a:ext cx="8953628" cy="3701415"/>
          </a:xfrm>
          <a:prstGeom prst="rect">
            <a:avLst/>
          </a:prstGeom>
        </p:spPr>
        <p:txBody>
          <a:bodyPr anchor="t" rtlCol="false" tIns="0" lIns="0" bIns="0" rIns="0">
            <a:spAutoFit/>
          </a:bodyPr>
          <a:lstStyle/>
          <a:p>
            <a:pPr algn="just" marL="582925" indent="-291463" lvl="1">
              <a:lnSpc>
                <a:spcPts val="3644"/>
              </a:lnSpc>
              <a:buFont typeface="Arial"/>
              <a:buChar char="•"/>
            </a:pPr>
            <a:r>
              <a:rPr lang="en-US" sz="2699" spc="43">
                <a:solidFill>
                  <a:srgbClr val="000000"/>
                </a:solidFill>
                <a:latin typeface="Times New Roman"/>
                <a:ea typeface="Times New Roman"/>
                <a:cs typeface="Times New Roman"/>
                <a:sym typeface="Times New Roman"/>
              </a:rPr>
              <a:t>Home Credit Group was founded in 1997 in the Czech Republic and as of 2024, it has major presence in Asian countries like Kazakhstan, China, India, Philippines, and Indonesia.</a:t>
            </a:r>
          </a:p>
          <a:p>
            <a:pPr algn="just" marL="582925" indent="-291463" lvl="1">
              <a:lnSpc>
                <a:spcPts val="3644"/>
              </a:lnSpc>
              <a:buFont typeface="Arial"/>
              <a:buChar char="•"/>
            </a:pPr>
            <a:r>
              <a:rPr lang="en-US" sz="2699" spc="43">
                <a:solidFill>
                  <a:srgbClr val="000000"/>
                </a:solidFill>
                <a:latin typeface="Times New Roman"/>
                <a:ea typeface="Times New Roman"/>
                <a:cs typeface="Times New Roman"/>
                <a:sym typeface="Times New Roman"/>
              </a:rPr>
              <a:t>Home Credit Group is a </a:t>
            </a:r>
            <a:r>
              <a:rPr lang="en-US" sz="2699" spc="43" u="none">
                <a:solidFill>
                  <a:srgbClr val="000000"/>
                </a:solidFill>
                <a:latin typeface="Times New Roman"/>
                <a:ea typeface="Times New Roman"/>
                <a:cs typeface="Times New Roman"/>
                <a:sym typeface="Times New Roman"/>
              </a:rPr>
              <a:t>financial company which aims to provide financial solutions to both individual customers and businesses which makes it a B2C as well as a B2B business. </a:t>
            </a:r>
          </a:p>
        </p:txBody>
      </p:sp>
      <p:sp>
        <p:nvSpPr>
          <p:cNvPr name="Freeform 7" id="7"/>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234108" y="-2510003"/>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252075" y="-97026"/>
            <a:ext cx="1045518" cy="1125726"/>
          </a:xfrm>
          <a:custGeom>
            <a:avLst/>
            <a:gdLst/>
            <a:ahLst/>
            <a:cxnLst/>
            <a:rect r="r" b="b" t="t" l="l"/>
            <a:pathLst>
              <a:path h="1125726" w="1045518">
                <a:moveTo>
                  <a:pt x="0" y="0"/>
                </a:moveTo>
                <a:lnTo>
                  <a:pt x="1045518" y="0"/>
                </a:lnTo>
                <a:lnTo>
                  <a:pt x="1045518" y="1125726"/>
                </a:lnTo>
                <a:lnTo>
                  <a:pt x="0" y="11257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086902" y="4589445"/>
            <a:ext cx="5885442" cy="2493287"/>
          </a:xfrm>
          <a:custGeom>
            <a:avLst/>
            <a:gdLst/>
            <a:ahLst/>
            <a:cxnLst/>
            <a:rect r="r" b="b" t="t" l="l"/>
            <a:pathLst>
              <a:path h="2493287" w="5885442">
                <a:moveTo>
                  <a:pt x="0" y="0"/>
                </a:moveTo>
                <a:lnTo>
                  <a:pt x="5885443" y="0"/>
                </a:lnTo>
                <a:lnTo>
                  <a:pt x="5885443" y="2493287"/>
                </a:lnTo>
                <a:lnTo>
                  <a:pt x="0" y="24932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8833635" y="5382111"/>
            <a:ext cx="9048607" cy="3800223"/>
            <a:chOff x="0" y="0"/>
            <a:chExt cx="3029096" cy="1272156"/>
          </a:xfrm>
        </p:grpSpPr>
        <p:sp>
          <p:nvSpPr>
            <p:cNvPr name="Freeform 13" id="13"/>
            <p:cNvSpPr/>
            <p:nvPr/>
          </p:nvSpPr>
          <p:spPr>
            <a:xfrm flipH="false" flipV="false" rot="0">
              <a:off x="0" y="0"/>
              <a:ext cx="3029096" cy="1272156"/>
            </a:xfrm>
            <a:custGeom>
              <a:avLst/>
              <a:gdLst/>
              <a:ahLst/>
              <a:cxnLst/>
              <a:rect r="r" b="b" t="t" l="l"/>
              <a:pathLst>
                <a:path h="1272156" w="3029096">
                  <a:moveTo>
                    <a:pt x="12834" y="0"/>
                  </a:moveTo>
                  <a:lnTo>
                    <a:pt x="3016262" y="0"/>
                  </a:lnTo>
                  <a:cubicBezTo>
                    <a:pt x="3019666" y="0"/>
                    <a:pt x="3022930" y="1352"/>
                    <a:pt x="3025337" y="3759"/>
                  </a:cubicBezTo>
                  <a:cubicBezTo>
                    <a:pt x="3027744" y="6166"/>
                    <a:pt x="3029096" y="9430"/>
                    <a:pt x="3029096" y="12834"/>
                  </a:cubicBezTo>
                  <a:lnTo>
                    <a:pt x="3029096" y="1259322"/>
                  </a:lnTo>
                  <a:cubicBezTo>
                    <a:pt x="3029096" y="1262726"/>
                    <a:pt x="3027744" y="1265990"/>
                    <a:pt x="3025337" y="1268397"/>
                  </a:cubicBezTo>
                  <a:cubicBezTo>
                    <a:pt x="3022930" y="1270804"/>
                    <a:pt x="3019666" y="1272156"/>
                    <a:pt x="3016262" y="1272156"/>
                  </a:cubicBezTo>
                  <a:lnTo>
                    <a:pt x="12834" y="1272156"/>
                  </a:lnTo>
                  <a:cubicBezTo>
                    <a:pt x="9430" y="1272156"/>
                    <a:pt x="6166" y="1270804"/>
                    <a:pt x="3759" y="1268397"/>
                  </a:cubicBezTo>
                  <a:cubicBezTo>
                    <a:pt x="1352" y="1265990"/>
                    <a:pt x="0" y="1262726"/>
                    <a:pt x="0" y="1259322"/>
                  </a:cubicBezTo>
                  <a:lnTo>
                    <a:pt x="0" y="12834"/>
                  </a:lnTo>
                  <a:cubicBezTo>
                    <a:pt x="0" y="9430"/>
                    <a:pt x="1352" y="6166"/>
                    <a:pt x="3759" y="3759"/>
                  </a:cubicBezTo>
                  <a:cubicBezTo>
                    <a:pt x="6166" y="1352"/>
                    <a:pt x="9430" y="0"/>
                    <a:pt x="12834" y="0"/>
                  </a:cubicBezTo>
                  <a:close/>
                </a:path>
              </a:pathLst>
            </a:custGeom>
            <a:solidFill>
              <a:srgbClr val="8AB7E2">
                <a:alpha val="77647"/>
              </a:srgbClr>
            </a:solidFill>
          </p:spPr>
        </p:sp>
        <p:sp>
          <p:nvSpPr>
            <p:cNvPr name="TextBox 14" id="14"/>
            <p:cNvSpPr txBox="true"/>
            <p:nvPr/>
          </p:nvSpPr>
          <p:spPr>
            <a:xfrm>
              <a:off x="0" y="85725"/>
              <a:ext cx="3029096" cy="1186431"/>
            </a:xfrm>
            <a:prstGeom prst="rect">
              <a:avLst/>
            </a:prstGeom>
          </p:spPr>
          <p:txBody>
            <a:bodyPr anchor="ctr" rtlCol="false" tIns="50800" lIns="50800" bIns="50800" rIns="50800"/>
            <a:lstStyle/>
            <a:p>
              <a:pPr algn="ctr">
                <a:lnSpc>
                  <a:spcPts val="1925"/>
                </a:lnSpc>
              </a:pPr>
            </a:p>
          </p:txBody>
        </p:sp>
      </p:grpSp>
      <p:sp>
        <p:nvSpPr>
          <p:cNvPr name="TextBox 15" id="15"/>
          <p:cNvSpPr txBox="true"/>
          <p:nvPr/>
        </p:nvSpPr>
        <p:spPr>
          <a:xfrm rot="0">
            <a:off x="8697967" y="5480919"/>
            <a:ext cx="8918200" cy="3701415"/>
          </a:xfrm>
          <a:prstGeom prst="rect">
            <a:avLst/>
          </a:prstGeom>
        </p:spPr>
        <p:txBody>
          <a:bodyPr anchor="t" rtlCol="false" tIns="0" lIns="0" bIns="0" rIns="0">
            <a:spAutoFit/>
          </a:bodyPr>
          <a:lstStyle/>
          <a:p>
            <a:pPr algn="just" marL="582925" indent="-291463" lvl="1">
              <a:lnSpc>
                <a:spcPts val="3644"/>
              </a:lnSpc>
              <a:buFont typeface="Arial"/>
              <a:buChar char="•"/>
            </a:pPr>
            <a:r>
              <a:rPr lang="en-US" sz="2699" spc="43">
                <a:solidFill>
                  <a:srgbClr val="000000"/>
                </a:solidFill>
                <a:latin typeface="Times New Roman"/>
                <a:ea typeface="Times New Roman"/>
                <a:cs typeface="Times New Roman"/>
                <a:sym typeface="Times New Roman"/>
              </a:rPr>
              <a:t>Services offered by Home Credit include personal loans, credit cards, home loans, and EMI based payments on products like mobile phones and home appliances.</a:t>
            </a:r>
          </a:p>
          <a:p>
            <a:pPr algn="just" marL="582925" indent="-291463" lvl="1">
              <a:lnSpc>
                <a:spcPts val="3644"/>
              </a:lnSpc>
              <a:buFont typeface="Arial"/>
              <a:buChar char="•"/>
            </a:pPr>
            <a:r>
              <a:rPr lang="en-US" sz="2699" spc="43">
                <a:solidFill>
                  <a:srgbClr val="000000"/>
                </a:solidFill>
                <a:latin typeface="Times New Roman"/>
                <a:ea typeface="Times New Roman"/>
                <a:cs typeface="Times New Roman"/>
                <a:sym typeface="Times New Roman"/>
              </a:rPr>
              <a:t>The services are open to all types of customers but the main objective is to target customers with insufficient credit history who find it difficult to obtain credit from sources like reputed banks.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10942" y="2301770"/>
            <a:ext cx="7764287" cy="1216613"/>
          </a:xfrm>
          <a:prstGeom prst="rect">
            <a:avLst/>
          </a:prstGeom>
        </p:spPr>
        <p:txBody>
          <a:bodyPr anchor="t" rtlCol="false" tIns="0" lIns="0" bIns="0" rIns="0">
            <a:spAutoFit/>
          </a:bodyPr>
          <a:lstStyle/>
          <a:p>
            <a:pPr algn="l">
              <a:lnSpc>
                <a:spcPts val="7821"/>
              </a:lnSpc>
            </a:pPr>
            <a:r>
              <a:rPr lang="en-US" sz="8063" u="sng">
                <a:solidFill>
                  <a:srgbClr val="000000"/>
                </a:solidFill>
                <a:latin typeface="Times New Roman Bold"/>
                <a:ea typeface="Times New Roman Bold"/>
                <a:cs typeface="Times New Roman Bold"/>
                <a:sym typeface="Times New Roman Bold"/>
              </a:rPr>
              <a:t>Problem Stament</a:t>
            </a:r>
          </a:p>
        </p:txBody>
      </p:sp>
      <p:grpSp>
        <p:nvGrpSpPr>
          <p:cNvPr name="Group 3" id="3"/>
          <p:cNvGrpSpPr/>
          <p:nvPr/>
        </p:nvGrpSpPr>
        <p:grpSpPr>
          <a:xfrm rot="0">
            <a:off x="8897796" y="2076662"/>
            <a:ext cx="9048607" cy="5861550"/>
            <a:chOff x="0" y="0"/>
            <a:chExt cx="3029096" cy="1962202"/>
          </a:xfrm>
        </p:grpSpPr>
        <p:sp>
          <p:nvSpPr>
            <p:cNvPr name="Freeform 4" id="4"/>
            <p:cNvSpPr/>
            <p:nvPr/>
          </p:nvSpPr>
          <p:spPr>
            <a:xfrm flipH="false" flipV="false" rot="0">
              <a:off x="0" y="0"/>
              <a:ext cx="3029096" cy="1962202"/>
            </a:xfrm>
            <a:custGeom>
              <a:avLst/>
              <a:gdLst/>
              <a:ahLst/>
              <a:cxnLst/>
              <a:rect r="r" b="b" t="t" l="l"/>
              <a:pathLst>
                <a:path h="1962202" w="3029096">
                  <a:moveTo>
                    <a:pt x="12834" y="0"/>
                  </a:moveTo>
                  <a:lnTo>
                    <a:pt x="3016262" y="0"/>
                  </a:lnTo>
                  <a:cubicBezTo>
                    <a:pt x="3019666" y="0"/>
                    <a:pt x="3022930" y="1352"/>
                    <a:pt x="3025337" y="3759"/>
                  </a:cubicBezTo>
                  <a:cubicBezTo>
                    <a:pt x="3027744" y="6166"/>
                    <a:pt x="3029096" y="9430"/>
                    <a:pt x="3029096" y="12834"/>
                  </a:cubicBezTo>
                  <a:lnTo>
                    <a:pt x="3029096" y="1949368"/>
                  </a:lnTo>
                  <a:cubicBezTo>
                    <a:pt x="3029096" y="1952772"/>
                    <a:pt x="3027744" y="1956036"/>
                    <a:pt x="3025337" y="1958443"/>
                  </a:cubicBezTo>
                  <a:cubicBezTo>
                    <a:pt x="3022930" y="1960850"/>
                    <a:pt x="3019666" y="1962202"/>
                    <a:pt x="3016262" y="1962202"/>
                  </a:cubicBezTo>
                  <a:lnTo>
                    <a:pt x="12834" y="1962202"/>
                  </a:lnTo>
                  <a:cubicBezTo>
                    <a:pt x="9430" y="1962202"/>
                    <a:pt x="6166" y="1960850"/>
                    <a:pt x="3759" y="1958443"/>
                  </a:cubicBezTo>
                  <a:cubicBezTo>
                    <a:pt x="1352" y="1956036"/>
                    <a:pt x="0" y="1952772"/>
                    <a:pt x="0" y="1949368"/>
                  </a:cubicBezTo>
                  <a:lnTo>
                    <a:pt x="0" y="12834"/>
                  </a:lnTo>
                  <a:cubicBezTo>
                    <a:pt x="0" y="9430"/>
                    <a:pt x="1352" y="6166"/>
                    <a:pt x="3759" y="3759"/>
                  </a:cubicBezTo>
                  <a:cubicBezTo>
                    <a:pt x="6166" y="1352"/>
                    <a:pt x="9430" y="0"/>
                    <a:pt x="12834" y="0"/>
                  </a:cubicBezTo>
                  <a:close/>
                </a:path>
              </a:pathLst>
            </a:custGeom>
            <a:solidFill>
              <a:srgbClr val="8AB7E2">
                <a:alpha val="77647"/>
              </a:srgbClr>
            </a:solidFill>
          </p:spPr>
        </p:sp>
        <p:sp>
          <p:nvSpPr>
            <p:cNvPr name="TextBox 5" id="5"/>
            <p:cNvSpPr txBox="true"/>
            <p:nvPr/>
          </p:nvSpPr>
          <p:spPr>
            <a:xfrm>
              <a:off x="0" y="85725"/>
              <a:ext cx="3029096" cy="1876477"/>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8726700" y="2160592"/>
            <a:ext cx="8953628" cy="5716906"/>
          </a:xfrm>
          <a:prstGeom prst="rect">
            <a:avLst/>
          </a:prstGeom>
        </p:spPr>
        <p:txBody>
          <a:bodyPr anchor="t" rtlCol="false" tIns="0" lIns="0" bIns="0" rIns="0">
            <a:spAutoFit/>
          </a:bodyPr>
          <a:lstStyle/>
          <a:p>
            <a:pPr algn="just" marL="647694" indent="-323847" lvl="1">
              <a:lnSpc>
                <a:spcPts val="4169"/>
              </a:lnSpc>
              <a:buAutoNum type="arabicPeriod" startAt="1"/>
            </a:pPr>
            <a:r>
              <a:rPr lang="en-US" sz="2999" spc="47">
                <a:solidFill>
                  <a:srgbClr val="000000"/>
                </a:solidFill>
                <a:latin typeface="Times New Roman Bold"/>
                <a:ea typeface="Times New Roman Bold"/>
                <a:cs typeface="Times New Roman Bold"/>
                <a:sym typeface="Times New Roman Bold"/>
              </a:rPr>
              <a:t>Accurate defaulter classification</a:t>
            </a:r>
            <a:r>
              <a:rPr lang="en-US" sz="2999" spc="47">
                <a:solidFill>
                  <a:srgbClr val="000000"/>
                </a:solidFill>
                <a:latin typeface="Times New Roman"/>
                <a:ea typeface="Times New Roman"/>
                <a:cs typeface="Times New Roman"/>
                <a:sym typeface="Times New Roman"/>
              </a:rPr>
              <a:t>: The company records huge number of customer attributes. Out of all the attributes, identifying the most important ones that lead to reliable classification is a challenge. Moreover, it has to be kept in mind that too many loans are not rejected.</a:t>
            </a:r>
          </a:p>
          <a:p>
            <a:pPr algn="just" marL="647694" indent="-323847" lvl="1">
              <a:lnSpc>
                <a:spcPts val="4049"/>
              </a:lnSpc>
              <a:buAutoNum type="arabicPeriod" startAt="1"/>
            </a:pPr>
            <a:r>
              <a:rPr lang="en-US" sz="2999" spc="47">
                <a:solidFill>
                  <a:srgbClr val="000000"/>
                </a:solidFill>
                <a:latin typeface="Times New Roman Bold"/>
                <a:ea typeface="Times New Roman Bold"/>
                <a:cs typeface="Times New Roman Bold"/>
                <a:sym typeface="Times New Roman Bold"/>
              </a:rPr>
              <a:t>Utilizing past data</a:t>
            </a:r>
            <a:r>
              <a:rPr lang="en-US" sz="2999" spc="47">
                <a:solidFill>
                  <a:srgbClr val="000000"/>
                </a:solidFill>
                <a:latin typeface="Times New Roman"/>
                <a:ea typeface="Times New Roman"/>
                <a:cs typeface="Times New Roman"/>
                <a:sym typeface="Times New Roman"/>
              </a:rPr>
              <a:t>: Utilizing past data is also a major obstacle as not every customer has past data corresponding to them. Finding innovative ways to include such data into the analysis will be the main task. </a:t>
            </a:r>
          </a:p>
        </p:txBody>
      </p:sp>
      <p:sp>
        <p:nvSpPr>
          <p:cNvPr name="Freeform 7" id="7"/>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234108" y="-2510003"/>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252075" y="-97026"/>
            <a:ext cx="1045518" cy="1125726"/>
          </a:xfrm>
          <a:custGeom>
            <a:avLst/>
            <a:gdLst/>
            <a:ahLst/>
            <a:cxnLst/>
            <a:rect r="r" b="b" t="t" l="l"/>
            <a:pathLst>
              <a:path h="1125726" w="1045518">
                <a:moveTo>
                  <a:pt x="0" y="0"/>
                </a:moveTo>
                <a:lnTo>
                  <a:pt x="1045518" y="0"/>
                </a:lnTo>
                <a:lnTo>
                  <a:pt x="1045518" y="1125726"/>
                </a:lnTo>
                <a:lnTo>
                  <a:pt x="0" y="11257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086902" y="4589445"/>
            <a:ext cx="5885442" cy="2493287"/>
          </a:xfrm>
          <a:custGeom>
            <a:avLst/>
            <a:gdLst/>
            <a:ahLst/>
            <a:cxnLst/>
            <a:rect r="r" b="b" t="t" l="l"/>
            <a:pathLst>
              <a:path h="2493287" w="5885442">
                <a:moveTo>
                  <a:pt x="0" y="0"/>
                </a:moveTo>
                <a:lnTo>
                  <a:pt x="5885443" y="0"/>
                </a:lnTo>
                <a:lnTo>
                  <a:pt x="5885443" y="2493287"/>
                </a:lnTo>
                <a:lnTo>
                  <a:pt x="0" y="24932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19003" y="668969"/>
            <a:ext cx="5894855" cy="2742656"/>
            <a:chOff x="0" y="0"/>
            <a:chExt cx="2231708" cy="1038330"/>
          </a:xfrm>
        </p:grpSpPr>
        <p:sp>
          <p:nvSpPr>
            <p:cNvPr name="Freeform 3" id="3"/>
            <p:cNvSpPr/>
            <p:nvPr/>
          </p:nvSpPr>
          <p:spPr>
            <a:xfrm flipH="false" flipV="false" rot="0">
              <a:off x="0" y="0"/>
              <a:ext cx="2231708" cy="1038330"/>
            </a:xfrm>
            <a:custGeom>
              <a:avLst/>
              <a:gdLst/>
              <a:ahLst/>
              <a:cxnLst/>
              <a:rect r="r" b="b" t="t" l="l"/>
              <a:pathLst>
                <a:path h="1038330" w="2231708">
                  <a:moveTo>
                    <a:pt x="19700" y="0"/>
                  </a:moveTo>
                  <a:lnTo>
                    <a:pt x="2212008" y="0"/>
                  </a:lnTo>
                  <a:cubicBezTo>
                    <a:pt x="2222888" y="0"/>
                    <a:pt x="2231708" y="8820"/>
                    <a:pt x="2231708" y="19700"/>
                  </a:cubicBezTo>
                  <a:lnTo>
                    <a:pt x="2231708" y="1018630"/>
                  </a:lnTo>
                  <a:cubicBezTo>
                    <a:pt x="2231708" y="1029510"/>
                    <a:pt x="2222888" y="1038330"/>
                    <a:pt x="2212008" y="1038330"/>
                  </a:cubicBezTo>
                  <a:lnTo>
                    <a:pt x="19700" y="1038330"/>
                  </a:lnTo>
                  <a:cubicBezTo>
                    <a:pt x="14475" y="1038330"/>
                    <a:pt x="9464" y="1036255"/>
                    <a:pt x="5770" y="1032560"/>
                  </a:cubicBezTo>
                  <a:cubicBezTo>
                    <a:pt x="2076" y="1028866"/>
                    <a:pt x="0" y="1023855"/>
                    <a:pt x="0" y="1018630"/>
                  </a:cubicBezTo>
                  <a:lnTo>
                    <a:pt x="0" y="19700"/>
                  </a:lnTo>
                  <a:cubicBezTo>
                    <a:pt x="0" y="8820"/>
                    <a:pt x="8820" y="0"/>
                    <a:pt x="19700" y="0"/>
                  </a:cubicBezTo>
                  <a:close/>
                </a:path>
              </a:pathLst>
            </a:custGeom>
            <a:solidFill>
              <a:srgbClr val="8AB7E2">
                <a:alpha val="70980"/>
              </a:srgbClr>
            </a:solidFill>
            <a:ln w="9525" cap="sq">
              <a:solidFill>
                <a:srgbClr val="000000">
                  <a:alpha val="70980"/>
                </a:srgbClr>
              </a:solidFill>
              <a:prstDash val="solid"/>
              <a:miter/>
            </a:ln>
          </p:spPr>
        </p:sp>
        <p:sp>
          <p:nvSpPr>
            <p:cNvPr name="TextBox 4" id="4"/>
            <p:cNvSpPr txBox="true"/>
            <p:nvPr/>
          </p:nvSpPr>
          <p:spPr>
            <a:xfrm>
              <a:off x="0" y="-38100"/>
              <a:ext cx="2231708" cy="107643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501785" y="896576"/>
            <a:ext cx="5482626" cy="2147425"/>
          </a:xfrm>
          <a:prstGeom prst="rect">
            <a:avLst/>
          </a:prstGeom>
        </p:spPr>
        <p:txBody>
          <a:bodyPr anchor="t" rtlCol="false" tIns="0" lIns="0" bIns="0" rIns="0">
            <a:spAutoFit/>
          </a:bodyPr>
          <a:lstStyle/>
          <a:p>
            <a:pPr algn="just">
              <a:lnSpc>
                <a:spcPts val="3842"/>
              </a:lnSpc>
            </a:pPr>
            <a:r>
              <a:rPr lang="en-US" sz="2578">
                <a:solidFill>
                  <a:srgbClr val="000000"/>
                </a:solidFill>
                <a:latin typeface="Times New Roman Bold"/>
                <a:ea typeface="Times New Roman Bold"/>
                <a:cs typeface="Times New Roman Bold"/>
                <a:sym typeface="Times New Roman Bold"/>
              </a:rPr>
              <a:t>application_train.csv</a:t>
            </a:r>
            <a:r>
              <a:rPr lang="en-US" sz="2578">
                <a:solidFill>
                  <a:srgbClr val="000000"/>
                </a:solidFill>
                <a:latin typeface="Times New Roman"/>
                <a:ea typeface="Times New Roman"/>
                <a:cs typeface="Times New Roman"/>
                <a:sym typeface="Times New Roman"/>
              </a:rPr>
              <a:t>: </a:t>
            </a:r>
          </a:p>
          <a:p>
            <a:pPr algn="just" marL="471939" indent="-235969" lvl="1">
              <a:lnSpc>
                <a:spcPts val="2470"/>
              </a:lnSpc>
              <a:buFont typeface="Arial"/>
              <a:buChar char="•"/>
            </a:pPr>
            <a:r>
              <a:rPr lang="en-US" sz="2185">
                <a:solidFill>
                  <a:srgbClr val="000000"/>
                </a:solidFill>
                <a:latin typeface="Times New Roman"/>
                <a:ea typeface="Times New Roman"/>
                <a:cs typeface="Times New Roman"/>
                <a:sym typeface="Times New Roman"/>
              </a:rPr>
              <a:t>Each row in this file corresponds to one application by a customer. </a:t>
            </a:r>
          </a:p>
          <a:p>
            <a:pPr algn="just" marL="471939" indent="-235969" lvl="1">
              <a:lnSpc>
                <a:spcPts val="2557"/>
              </a:lnSpc>
              <a:buFont typeface="Arial"/>
              <a:buChar char="•"/>
            </a:pPr>
            <a:r>
              <a:rPr lang="en-US" sz="2185">
                <a:solidFill>
                  <a:srgbClr val="000000"/>
                </a:solidFill>
                <a:latin typeface="Times New Roman"/>
                <a:ea typeface="Times New Roman"/>
                <a:cs typeface="Times New Roman"/>
                <a:sym typeface="Times New Roman"/>
              </a:rPr>
              <a:t>C</a:t>
            </a:r>
            <a:r>
              <a:rPr lang="en-US" sz="2185">
                <a:solidFill>
                  <a:srgbClr val="000000"/>
                </a:solidFill>
                <a:latin typeface="Times New Roman"/>
                <a:ea typeface="Times New Roman"/>
                <a:cs typeface="Times New Roman"/>
                <a:sym typeface="Times New Roman"/>
              </a:rPr>
              <a:t>ontains the attributes related to the customers and the loan, recorded at the time of application. </a:t>
            </a:r>
          </a:p>
        </p:txBody>
      </p:sp>
      <p:sp>
        <p:nvSpPr>
          <p:cNvPr name="TextBox 6" id="6"/>
          <p:cNvSpPr txBox="true"/>
          <p:nvPr/>
        </p:nvSpPr>
        <p:spPr>
          <a:xfrm rot="0">
            <a:off x="6346361" y="1257961"/>
            <a:ext cx="5431021" cy="2207108"/>
          </a:xfrm>
          <a:prstGeom prst="rect">
            <a:avLst/>
          </a:prstGeom>
        </p:spPr>
        <p:txBody>
          <a:bodyPr anchor="t" rtlCol="false" tIns="0" lIns="0" bIns="0" rIns="0">
            <a:spAutoFit/>
          </a:bodyPr>
          <a:lstStyle/>
          <a:p>
            <a:pPr algn="ctr" marL="0" indent="0" lvl="1">
              <a:lnSpc>
                <a:spcPts val="7818"/>
              </a:lnSpc>
              <a:spcBef>
                <a:spcPct val="0"/>
              </a:spcBef>
            </a:pPr>
            <a:r>
              <a:rPr lang="en-US" sz="8060" u="sng">
                <a:solidFill>
                  <a:srgbClr val="000000"/>
                </a:solidFill>
                <a:latin typeface="Times New Roman Bold"/>
                <a:ea typeface="Times New Roman Bold"/>
                <a:cs typeface="Times New Roman Bold"/>
                <a:sym typeface="Times New Roman Bold"/>
              </a:rPr>
              <a:t>Overview of Data</a:t>
            </a:r>
          </a:p>
        </p:txBody>
      </p:sp>
      <p:sp>
        <p:nvSpPr>
          <p:cNvPr name="TextBox 7" id="7"/>
          <p:cNvSpPr txBox="true"/>
          <p:nvPr/>
        </p:nvSpPr>
        <p:spPr>
          <a:xfrm rot="0">
            <a:off x="6977277" y="4343527"/>
            <a:ext cx="4169189" cy="1046208"/>
          </a:xfrm>
          <a:prstGeom prst="rect">
            <a:avLst/>
          </a:prstGeom>
        </p:spPr>
        <p:txBody>
          <a:bodyPr anchor="t" rtlCol="false" tIns="0" lIns="0" bIns="0" rIns="0">
            <a:spAutoFit/>
          </a:bodyPr>
          <a:lstStyle/>
          <a:p>
            <a:pPr algn="ctr" marL="0" indent="0" lvl="1">
              <a:lnSpc>
                <a:spcPts val="3744"/>
              </a:lnSpc>
              <a:spcBef>
                <a:spcPct val="0"/>
              </a:spcBef>
            </a:pPr>
            <a:r>
              <a:rPr lang="en-US" sz="3860">
                <a:solidFill>
                  <a:srgbClr val="000000"/>
                </a:solidFill>
                <a:latin typeface="Times New Roman"/>
                <a:ea typeface="Times New Roman"/>
                <a:cs typeface="Times New Roman"/>
                <a:sym typeface="Times New Roman"/>
              </a:rPr>
              <a:t>Distributed in seven CSV files</a:t>
            </a:r>
          </a:p>
        </p:txBody>
      </p:sp>
      <p:sp>
        <p:nvSpPr>
          <p:cNvPr name="AutoShape 8" id="8"/>
          <p:cNvSpPr/>
          <p:nvPr/>
        </p:nvSpPr>
        <p:spPr>
          <a:xfrm flipH="true" flipV="true">
            <a:off x="6493643" y="3465070"/>
            <a:ext cx="1288118" cy="575390"/>
          </a:xfrm>
          <a:prstGeom prst="line">
            <a:avLst/>
          </a:prstGeom>
          <a:ln cap="flat" w="38100">
            <a:solidFill>
              <a:srgbClr val="000000"/>
            </a:solidFill>
            <a:prstDash val="solid"/>
            <a:headEnd type="none" len="sm" w="sm"/>
            <a:tailEnd type="triangle" len="med" w="lg"/>
          </a:ln>
        </p:spPr>
      </p:sp>
      <p:sp>
        <p:nvSpPr>
          <p:cNvPr name="AutoShape 9" id="9"/>
          <p:cNvSpPr/>
          <p:nvPr/>
        </p:nvSpPr>
        <p:spPr>
          <a:xfrm flipH="true">
            <a:off x="6560741" y="4866631"/>
            <a:ext cx="637357" cy="0"/>
          </a:xfrm>
          <a:prstGeom prst="line">
            <a:avLst/>
          </a:prstGeom>
          <a:ln cap="flat" w="38100">
            <a:solidFill>
              <a:srgbClr val="000000"/>
            </a:solidFill>
            <a:prstDash val="solid"/>
            <a:headEnd type="none" len="sm" w="sm"/>
            <a:tailEnd type="triangle" len="med" w="lg"/>
          </a:ln>
        </p:spPr>
      </p:sp>
      <p:sp>
        <p:nvSpPr>
          <p:cNvPr name="AutoShape 10" id="10"/>
          <p:cNvSpPr/>
          <p:nvPr/>
        </p:nvSpPr>
        <p:spPr>
          <a:xfrm flipH="true">
            <a:off x="6051086" y="5684723"/>
            <a:ext cx="1386922" cy="1330153"/>
          </a:xfrm>
          <a:prstGeom prst="line">
            <a:avLst/>
          </a:prstGeom>
          <a:ln cap="flat" w="38100">
            <a:solidFill>
              <a:srgbClr val="000000"/>
            </a:solidFill>
            <a:prstDash val="solid"/>
            <a:headEnd type="none" len="sm" w="sm"/>
            <a:tailEnd type="triangle" len="med" w="lg"/>
          </a:ln>
        </p:spPr>
      </p:sp>
      <p:sp>
        <p:nvSpPr>
          <p:cNvPr name="AutoShape 11" id="11"/>
          <p:cNvSpPr/>
          <p:nvPr/>
        </p:nvSpPr>
        <p:spPr>
          <a:xfrm>
            <a:off x="9061872" y="5684723"/>
            <a:ext cx="0" cy="1123271"/>
          </a:xfrm>
          <a:prstGeom prst="line">
            <a:avLst/>
          </a:prstGeom>
          <a:ln cap="flat" w="38100">
            <a:solidFill>
              <a:srgbClr val="000000"/>
            </a:solidFill>
            <a:prstDash val="solid"/>
            <a:headEnd type="none" len="sm" w="sm"/>
            <a:tailEnd type="triangle" len="med" w="lg"/>
          </a:ln>
        </p:spPr>
      </p:sp>
      <p:sp>
        <p:nvSpPr>
          <p:cNvPr name="AutoShape 12" id="12"/>
          <p:cNvSpPr/>
          <p:nvPr/>
        </p:nvSpPr>
        <p:spPr>
          <a:xfrm>
            <a:off x="10661180" y="5684723"/>
            <a:ext cx="1370670" cy="1330153"/>
          </a:xfrm>
          <a:prstGeom prst="line">
            <a:avLst/>
          </a:prstGeom>
          <a:ln cap="flat" w="38100">
            <a:solidFill>
              <a:srgbClr val="000000"/>
            </a:solidFill>
            <a:prstDash val="solid"/>
            <a:headEnd type="none" len="sm" w="sm"/>
            <a:tailEnd type="triangle" len="med" w="lg"/>
          </a:ln>
        </p:spPr>
      </p:sp>
      <p:sp>
        <p:nvSpPr>
          <p:cNvPr name="AutoShape 13" id="13"/>
          <p:cNvSpPr/>
          <p:nvPr/>
        </p:nvSpPr>
        <p:spPr>
          <a:xfrm flipV="true">
            <a:off x="11146466" y="4866631"/>
            <a:ext cx="630916" cy="0"/>
          </a:xfrm>
          <a:prstGeom prst="line">
            <a:avLst/>
          </a:prstGeom>
          <a:ln cap="flat" w="38100">
            <a:solidFill>
              <a:srgbClr val="000000"/>
            </a:solidFill>
            <a:prstDash val="solid"/>
            <a:headEnd type="none" len="sm" w="sm"/>
            <a:tailEnd type="triangle" len="med" w="lg"/>
          </a:ln>
        </p:spPr>
      </p:sp>
      <p:sp>
        <p:nvSpPr>
          <p:cNvPr name="AutoShape 14" id="14"/>
          <p:cNvSpPr/>
          <p:nvPr/>
        </p:nvSpPr>
        <p:spPr>
          <a:xfrm flipV="true">
            <a:off x="10363616" y="3194386"/>
            <a:ext cx="1413766" cy="846073"/>
          </a:xfrm>
          <a:prstGeom prst="line">
            <a:avLst/>
          </a:prstGeom>
          <a:ln cap="flat" w="38100">
            <a:solidFill>
              <a:srgbClr val="000000"/>
            </a:solidFill>
            <a:prstDash val="solid"/>
            <a:headEnd type="none" len="sm" w="sm"/>
            <a:tailEnd type="triangle" len="med" w="lg"/>
          </a:ln>
        </p:spPr>
      </p:sp>
      <p:grpSp>
        <p:nvGrpSpPr>
          <p:cNvPr name="Group 15" id="15"/>
          <p:cNvGrpSpPr/>
          <p:nvPr/>
        </p:nvGrpSpPr>
        <p:grpSpPr>
          <a:xfrm rot="0">
            <a:off x="324245" y="3868826"/>
            <a:ext cx="5894855" cy="2389931"/>
            <a:chOff x="0" y="0"/>
            <a:chExt cx="2231708" cy="904794"/>
          </a:xfrm>
        </p:grpSpPr>
        <p:sp>
          <p:nvSpPr>
            <p:cNvPr name="Freeform 16" id="16"/>
            <p:cNvSpPr/>
            <p:nvPr/>
          </p:nvSpPr>
          <p:spPr>
            <a:xfrm flipH="false" flipV="false" rot="0">
              <a:off x="0" y="0"/>
              <a:ext cx="2231708" cy="904794"/>
            </a:xfrm>
            <a:custGeom>
              <a:avLst/>
              <a:gdLst/>
              <a:ahLst/>
              <a:cxnLst/>
              <a:rect r="r" b="b" t="t" l="l"/>
              <a:pathLst>
                <a:path h="904794" w="2231708">
                  <a:moveTo>
                    <a:pt x="19700" y="0"/>
                  </a:moveTo>
                  <a:lnTo>
                    <a:pt x="2212008" y="0"/>
                  </a:lnTo>
                  <a:cubicBezTo>
                    <a:pt x="2222888" y="0"/>
                    <a:pt x="2231708" y="8820"/>
                    <a:pt x="2231708" y="19700"/>
                  </a:cubicBezTo>
                  <a:lnTo>
                    <a:pt x="2231708" y="885094"/>
                  </a:lnTo>
                  <a:cubicBezTo>
                    <a:pt x="2231708" y="890318"/>
                    <a:pt x="2229632" y="895329"/>
                    <a:pt x="2225938" y="899024"/>
                  </a:cubicBezTo>
                  <a:cubicBezTo>
                    <a:pt x="2222243" y="902718"/>
                    <a:pt x="2217232" y="904794"/>
                    <a:pt x="2212008" y="904794"/>
                  </a:cubicBezTo>
                  <a:lnTo>
                    <a:pt x="19700" y="904794"/>
                  </a:lnTo>
                  <a:cubicBezTo>
                    <a:pt x="8820" y="904794"/>
                    <a:pt x="0" y="895974"/>
                    <a:pt x="0" y="885094"/>
                  </a:cubicBezTo>
                  <a:lnTo>
                    <a:pt x="0" y="19700"/>
                  </a:lnTo>
                  <a:cubicBezTo>
                    <a:pt x="0" y="8820"/>
                    <a:pt x="8820" y="0"/>
                    <a:pt x="19700" y="0"/>
                  </a:cubicBezTo>
                  <a:close/>
                </a:path>
              </a:pathLst>
            </a:custGeom>
            <a:solidFill>
              <a:srgbClr val="648E38">
                <a:alpha val="76863"/>
              </a:srgbClr>
            </a:solidFill>
            <a:ln w="9525" cap="sq">
              <a:solidFill>
                <a:srgbClr val="000000">
                  <a:alpha val="76863"/>
                </a:srgbClr>
              </a:solidFill>
              <a:prstDash val="solid"/>
              <a:miter/>
            </a:ln>
          </p:spPr>
        </p:sp>
        <p:sp>
          <p:nvSpPr>
            <p:cNvPr name="TextBox 17" id="17"/>
            <p:cNvSpPr txBox="true"/>
            <p:nvPr/>
          </p:nvSpPr>
          <p:spPr>
            <a:xfrm>
              <a:off x="0" y="-38100"/>
              <a:ext cx="2231708" cy="9428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497502" y="3970286"/>
            <a:ext cx="5553584" cy="2104182"/>
          </a:xfrm>
          <a:prstGeom prst="rect">
            <a:avLst/>
          </a:prstGeom>
        </p:spPr>
        <p:txBody>
          <a:bodyPr anchor="t" rtlCol="false" tIns="0" lIns="0" bIns="0" rIns="0">
            <a:spAutoFit/>
          </a:bodyPr>
          <a:lstStyle/>
          <a:p>
            <a:pPr algn="just">
              <a:lnSpc>
                <a:spcPts val="3167"/>
              </a:lnSpc>
            </a:pPr>
            <a:r>
              <a:rPr lang="en-US" sz="2295">
                <a:solidFill>
                  <a:srgbClr val="000000"/>
                </a:solidFill>
                <a:latin typeface="Times New Roman Bold"/>
                <a:ea typeface="Times New Roman Bold"/>
                <a:cs typeface="Times New Roman Bold"/>
                <a:sym typeface="Times New Roman Bold"/>
              </a:rPr>
              <a:t>bureau.csv</a:t>
            </a:r>
            <a:r>
              <a:rPr lang="en-US" sz="2295">
                <a:solidFill>
                  <a:srgbClr val="000000"/>
                </a:solidFill>
                <a:latin typeface="Times New Roman"/>
                <a:ea typeface="Times New Roman"/>
                <a:cs typeface="Times New Roman"/>
                <a:sym typeface="Times New Roman"/>
              </a:rPr>
              <a:t>: </a:t>
            </a:r>
          </a:p>
          <a:p>
            <a:pPr algn="just" marL="420008" indent="-210004" lvl="1">
              <a:lnSpc>
                <a:spcPts val="2684"/>
              </a:lnSpc>
              <a:buFont typeface="Arial"/>
              <a:buChar char="•"/>
            </a:pPr>
            <a:r>
              <a:rPr lang="en-US" sz="1945">
                <a:solidFill>
                  <a:srgbClr val="000000"/>
                </a:solidFill>
                <a:latin typeface="Times New Roman"/>
                <a:ea typeface="Times New Roman"/>
                <a:cs typeface="Times New Roman"/>
                <a:sym typeface="Times New Roman"/>
              </a:rPr>
              <a:t>Each row in this file corresponds to one previous loan application a customer made which was reported to the Credit Bureau.</a:t>
            </a:r>
          </a:p>
          <a:p>
            <a:pPr algn="just" marL="420008" indent="-210004" lvl="1">
              <a:lnSpc>
                <a:spcPts val="2684"/>
              </a:lnSpc>
              <a:buFont typeface="Arial"/>
              <a:buChar char="•"/>
            </a:pPr>
            <a:r>
              <a:rPr lang="en-US" sz="1945">
                <a:solidFill>
                  <a:srgbClr val="000000"/>
                </a:solidFill>
                <a:latin typeface="Times New Roman"/>
                <a:ea typeface="Times New Roman"/>
                <a:cs typeface="Times New Roman"/>
                <a:sym typeface="Times New Roman"/>
              </a:rPr>
              <a:t>The information given by other financial institutions. </a:t>
            </a:r>
          </a:p>
        </p:txBody>
      </p:sp>
      <p:grpSp>
        <p:nvGrpSpPr>
          <p:cNvPr name="Group 19" id="19"/>
          <p:cNvGrpSpPr/>
          <p:nvPr/>
        </p:nvGrpSpPr>
        <p:grpSpPr>
          <a:xfrm rot="0">
            <a:off x="482735" y="7014876"/>
            <a:ext cx="5359270" cy="1842064"/>
            <a:chOff x="0" y="0"/>
            <a:chExt cx="2028943" cy="697379"/>
          </a:xfrm>
        </p:grpSpPr>
        <p:sp>
          <p:nvSpPr>
            <p:cNvPr name="Freeform 20" id="20"/>
            <p:cNvSpPr/>
            <p:nvPr/>
          </p:nvSpPr>
          <p:spPr>
            <a:xfrm flipH="false" flipV="false" rot="0">
              <a:off x="0" y="0"/>
              <a:ext cx="2028943" cy="697379"/>
            </a:xfrm>
            <a:custGeom>
              <a:avLst/>
              <a:gdLst/>
              <a:ahLst/>
              <a:cxnLst/>
              <a:rect r="r" b="b" t="t" l="l"/>
              <a:pathLst>
                <a:path h="697379" w="2028943">
                  <a:moveTo>
                    <a:pt x="21669" y="0"/>
                  </a:moveTo>
                  <a:lnTo>
                    <a:pt x="2007274" y="0"/>
                  </a:lnTo>
                  <a:cubicBezTo>
                    <a:pt x="2019241" y="0"/>
                    <a:pt x="2028943" y="9701"/>
                    <a:pt x="2028943" y="21669"/>
                  </a:cubicBezTo>
                  <a:lnTo>
                    <a:pt x="2028943" y="675710"/>
                  </a:lnTo>
                  <a:cubicBezTo>
                    <a:pt x="2028943" y="681457"/>
                    <a:pt x="2026660" y="686969"/>
                    <a:pt x="2022596" y="691032"/>
                  </a:cubicBezTo>
                  <a:cubicBezTo>
                    <a:pt x="2018533" y="695096"/>
                    <a:pt x="2013021" y="697379"/>
                    <a:pt x="2007274" y="697379"/>
                  </a:cubicBezTo>
                  <a:lnTo>
                    <a:pt x="21669" y="697379"/>
                  </a:lnTo>
                  <a:cubicBezTo>
                    <a:pt x="15922" y="697379"/>
                    <a:pt x="10410" y="695096"/>
                    <a:pt x="6347" y="691032"/>
                  </a:cubicBezTo>
                  <a:cubicBezTo>
                    <a:pt x="2283" y="686969"/>
                    <a:pt x="0" y="681457"/>
                    <a:pt x="0" y="675710"/>
                  </a:cubicBezTo>
                  <a:lnTo>
                    <a:pt x="0" y="21669"/>
                  </a:lnTo>
                  <a:cubicBezTo>
                    <a:pt x="0" y="15922"/>
                    <a:pt x="2283" y="10410"/>
                    <a:pt x="6347" y="6347"/>
                  </a:cubicBezTo>
                  <a:cubicBezTo>
                    <a:pt x="10410" y="2283"/>
                    <a:pt x="15922" y="0"/>
                    <a:pt x="21669" y="0"/>
                  </a:cubicBezTo>
                  <a:close/>
                </a:path>
              </a:pathLst>
            </a:custGeom>
            <a:solidFill>
              <a:srgbClr val="8AB7E2">
                <a:alpha val="76863"/>
              </a:srgbClr>
            </a:solidFill>
            <a:ln w="9525" cap="sq">
              <a:solidFill>
                <a:srgbClr val="000000">
                  <a:alpha val="76863"/>
                </a:srgbClr>
              </a:solidFill>
              <a:prstDash val="solid"/>
              <a:miter/>
            </a:ln>
          </p:spPr>
        </p:sp>
        <p:sp>
          <p:nvSpPr>
            <p:cNvPr name="TextBox 21" id="21"/>
            <p:cNvSpPr txBox="true"/>
            <p:nvPr/>
          </p:nvSpPr>
          <p:spPr>
            <a:xfrm>
              <a:off x="0" y="-38100"/>
              <a:ext cx="2028943" cy="73547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655992" y="7097286"/>
            <a:ext cx="4878678" cy="1528025"/>
          </a:xfrm>
          <a:prstGeom prst="rect">
            <a:avLst/>
          </a:prstGeom>
        </p:spPr>
        <p:txBody>
          <a:bodyPr anchor="t" rtlCol="false" tIns="0" lIns="0" bIns="0" rIns="0">
            <a:spAutoFit/>
          </a:bodyPr>
          <a:lstStyle/>
          <a:p>
            <a:pPr algn="just">
              <a:lnSpc>
                <a:spcPts val="3347"/>
              </a:lnSpc>
            </a:pPr>
            <a:r>
              <a:rPr lang="en-US" sz="2246">
                <a:solidFill>
                  <a:srgbClr val="000000"/>
                </a:solidFill>
                <a:latin typeface="Times New Roman Bold"/>
                <a:ea typeface="Times New Roman Bold"/>
                <a:cs typeface="Times New Roman Bold"/>
                <a:sym typeface="Times New Roman Bold"/>
              </a:rPr>
              <a:t>bureau_balance.csv</a:t>
            </a:r>
            <a:r>
              <a:rPr lang="en-US" sz="2246">
                <a:solidFill>
                  <a:srgbClr val="000000"/>
                </a:solidFill>
                <a:latin typeface="Times New Roman"/>
                <a:ea typeface="Times New Roman"/>
                <a:cs typeface="Times New Roman"/>
                <a:sym typeface="Times New Roman"/>
              </a:rPr>
              <a:t>: </a:t>
            </a:r>
          </a:p>
          <a:p>
            <a:pPr algn="just" marL="411089" indent="-205544" lvl="1">
              <a:lnSpc>
                <a:spcPts val="2837"/>
              </a:lnSpc>
              <a:buFont typeface="Arial"/>
              <a:buChar char="•"/>
            </a:pPr>
            <a:r>
              <a:rPr lang="en-US" sz="1904">
                <a:solidFill>
                  <a:srgbClr val="000000"/>
                </a:solidFill>
                <a:latin typeface="Times New Roman"/>
                <a:ea typeface="Times New Roman"/>
                <a:cs typeface="Times New Roman"/>
                <a:sym typeface="Times New Roman"/>
              </a:rPr>
              <a:t>This file contains the monthly status records of the previous loans that were reported to the Credit Bureau. </a:t>
            </a:r>
          </a:p>
        </p:txBody>
      </p:sp>
      <p:grpSp>
        <p:nvGrpSpPr>
          <p:cNvPr name="Group 23" id="23"/>
          <p:cNvGrpSpPr/>
          <p:nvPr/>
        </p:nvGrpSpPr>
        <p:grpSpPr>
          <a:xfrm rot="0">
            <a:off x="6553844" y="7097286"/>
            <a:ext cx="5035104" cy="2161014"/>
            <a:chOff x="0" y="0"/>
            <a:chExt cx="1906218" cy="818129"/>
          </a:xfrm>
        </p:grpSpPr>
        <p:sp>
          <p:nvSpPr>
            <p:cNvPr name="Freeform 24" id="24"/>
            <p:cNvSpPr/>
            <p:nvPr/>
          </p:nvSpPr>
          <p:spPr>
            <a:xfrm flipH="false" flipV="false" rot="0">
              <a:off x="0" y="0"/>
              <a:ext cx="1906218" cy="818129"/>
            </a:xfrm>
            <a:custGeom>
              <a:avLst/>
              <a:gdLst/>
              <a:ahLst/>
              <a:cxnLst/>
              <a:rect r="r" b="b" t="t" l="l"/>
              <a:pathLst>
                <a:path h="818129" w="1906218">
                  <a:moveTo>
                    <a:pt x="23064" y="0"/>
                  </a:moveTo>
                  <a:lnTo>
                    <a:pt x="1883154" y="0"/>
                  </a:lnTo>
                  <a:cubicBezTo>
                    <a:pt x="1889272" y="0"/>
                    <a:pt x="1895138" y="2430"/>
                    <a:pt x="1899463" y="6755"/>
                  </a:cubicBezTo>
                  <a:cubicBezTo>
                    <a:pt x="1903788" y="11081"/>
                    <a:pt x="1906218" y="16947"/>
                    <a:pt x="1906218" y="23064"/>
                  </a:cubicBezTo>
                  <a:lnTo>
                    <a:pt x="1906218" y="795065"/>
                  </a:lnTo>
                  <a:cubicBezTo>
                    <a:pt x="1906218" y="807803"/>
                    <a:pt x="1895892" y="818129"/>
                    <a:pt x="1883154" y="818129"/>
                  </a:cubicBezTo>
                  <a:lnTo>
                    <a:pt x="23064" y="818129"/>
                  </a:lnTo>
                  <a:cubicBezTo>
                    <a:pt x="10326" y="818129"/>
                    <a:pt x="0" y="807803"/>
                    <a:pt x="0" y="795065"/>
                  </a:cubicBezTo>
                  <a:lnTo>
                    <a:pt x="0" y="23064"/>
                  </a:lnTo>
                  <a:cubicBezTo>
                    <a:pt x="0" y="10326"/>
                    <a:pt x="10326" y="0"/>
                    <a:pt x="23064" y="0"/>
                  </a:cubicBezTo>
                  <a:close/>
                </a:path>
              </a:pathLst>
            </a:custGeom>
            <a:solidFill>
              <a:srgbClr val="648E38"/>
            </a:solidFill>
            <a:ln w="9525" cap="sq">
              <a:solidFill>
                <a:srgbClr val="000000"/>
              </a:solidFill>
              <a:prstDash val="solid"/>
              <a:miter/>
            </a:ln>
          </p:spPr>
        </p:sp>
        <p:sp>
          <p:nvSpPr>
            <p:cNvPr name="TextBox 25" id="25"/>
            <p:cNvSpPr txBox="true"/>
            <p:nvPr/>
          </p:nvSpPr>
          <p:spPr>
            <a:xfrm>
              <a:off x="0" y="-38100"/>
              <a:ext cx="1906218" cy="8562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6" id="26"/>
          <p:cNvSpPr txBox="true"/>
          <p:nvPr/>
        </p:nvSpPr>
        <p:spPr>
          <a:xfrm rot="0">
            <a:off x="6727101" y="7170171"/>
            <a:ext cx="4692034" cy="2013552"/>
          </a:xfrm>
          <a:prstGeom prst="rect">
            <a:avLst/>
          </a:prstGeom>
        </p:spPr>
        <p:txBody>
          <a:bodyPr anchor="t" rtlCol="false" tIns="0" lIns="0" bIns="0" rIns="0">
            <a:spAutoFit/>
          </a:bodyPr>
          <a:lstStyle/>
          <a:p>
            <a:pPr algn="just">
              <a:lnSpc>
                <a:spcPts val="3567"/>
              </a:lnSpc>
            </a:pPr>
            <a:r>
              <a:rPr lang="en-US" sz="2394">
                <a:solidFill>
                  <a:srgbClr val="000000"/>
                </a:solidFill>
                <a:latin typeface="Times New Roman Bold"/>
                <a:ea typeface="Times New Roman Bold"/>
                <a:cs typeface="Times New Roman Bold"/>
                <a:sym typeface="Times New Roman Bold"/>
              </a:rPr>
              <a:t>installments_payments.csv</a:t>
            </a:r>
            <a:r>
              <a:rPr lang="en-US" sz="2394">
                <a:solidFill>
                  <a:srgbClr val="000000"/>
                </a:solidFill>
                <a:latin typeface="Times New Roman"/>
                <a:ea typeface="Times New Roman"/>
                <a:cs typeface="Times New Roman"/>
                <a:sym typeface="Times New Roman"/>
              </a:rPr>
              <a:t>: </a:t>
            </a:r>
          </a:p>
          <a:p>
            <a:pPr algn="just" marL="438170" indent="-219085" lvl="1">
              <a:lnSpc>
                <a:spcPts val="3023"/>
              </a:lnSpc>
              <a:buFont typeface="Arial"/>
              <a:buChar char="•"/>
            </a:pPr>
            <a:r>
              <a:rPr lang="en-US" sz="2029">
                <a:solidFill>
                  <a:srgbClr val="000000"/>
                </a:solidFill>
                <a:latin typeface="Times New Roman"/>
                <a:ea typeface="Times New Roman"/>
                <a:cs typeface="Times New Roman"/>
                <a:sym typeface="Times New Roman"/>
              </a:rPr>
              <a:t>Each row in this file corresponds to an instalment payment made or missed by the customer for a previous Home Credit loan. </a:t>
            </a:r>
          </a:p>
        </p:txBody>
      </p:sp>
      <p:grpSp>
        <p:nvGrpSpPr>
          <p:cNvPr name="Group 27" id="27"/>
          <p:cNvGrpSpPr/>
          <p:nvPr/>
        </p:nvGrpSpPr>
        <p:grpSpPr>
          <a:xfrm rot="0">
            <a:off x="12149115" y="1159112"/>
            <a:ext cx="5894855" cy="2035274"/>
            <a:chOff x="0" y="0"/>
            <a:chExt cx="2231708" cy="770525"/>
          </a:xfrm>
        </p:grpSpPr>
        <p:sp>
          <p:nvSpPr>
            <p:cNvPr name="Freeform 28" id="28"/>
            <p:cNvSpPr/>
            <p:nvPr/>
          </p:nvSpPr>
          <p:spPr>
            <a:xfrm flipH="false" flipV="false" rot="0">
              <a:off x="0" y="0"/>
              <a:ext cx="2231708" cy="770525"/>
            </a:xfrm>
            <a:custGeom>
              <a:avLst/>
              <a:gdLst/>
              <a:ahLst/>
              <a:cxnLst/>
              <a:rect r="r" b="b" t="t" l="l"/>
              <a:pathLst>
                <a:path h="770525" w="2231708">
                  <a:moveTo>
                    <a:pt x="19700" y="0"/>
                  </a:moveTo>
                  <a:lnTo>
                    <a:pt x="2212008" y="0"/>
                  </a:lnTo>
                  <a:cubicBezTo>
                    <a:pt x="2222888" y="0"/>
                    <a:pt x="2231708" y="8820"/>
                    <a:pt x="2231708" y="19700"/>
                  </a:cubicBezTo>
                  <a:lnTo>
                    <a:pt x="2231708" y="750825"/>
                  </a:lnTo>
                  <a:cubicBezTo>
                    <a:pt x="2231708" y="756050"/>
                    <a:pt x="2229632" y="761061"/>
                    <a:pt x="2225938" y="764756"/>
                  </a:cubicBezTo>
                  <a:cubicBezTo>
                    <a:pt x="2222243" y="768450"/>
                    <a:pt x="2217232" y="770525"/>
                    <a:pt x="2212008" y="770525"/>
                  </a:cubicBezTo>
                  <a:lnTo>
                    <a:pt x="19700" y="770525"/>
                  </a:lnTo>
                  <a:cubicBezTo>
                    <a:pt x="8820" y="770525"/>
                    <a:pt x="0" y="761705"/>
                    <a:pt x="0" y="750825"/>
                  </a:cubicBezTo>
                  <a:lnTo>
                    <a:pt x="0" y="19700"/>
                  </a:lnTo>
                  <a:cubicBezTo>
                    <a:pt x="0" y="8820"/>
                    <a:pt x="8820" y="0"/>
                    <a:pt x="19700" y="0"/>
                  </a:cubicBezTo>
                  <a:close/>
                </a:path>
              </a:pathLst>
            </a:custGeom>
            <a:solidFill>
              <a:srgbClr val="8AB7E2">
                <a:alpha val="76863"/>
              </a:srgbClr>
            </a:solidFill>
            <a:ln w="9525" cap="sq">
              <a:solidFill>
                <a:srgbClr val="000000">
                  <a:alpha val="76863"/>
                </a:srgbClr>
              </a:solidFill>
              <a:prstDash val="solid"/>
              <a:miter/>
            </a:ln>
          </p:spPr>
        </p:sp>
        <p:sp>
          <p:nvSpPr>
            <p:cNvPr name="TextBox 29" id="29"/>
            <p:cNvSpPr txBox="true"/>
            <p:nvPr/>
          </p:nvSpPr>
          <p:spPr>
            <a:xfrm>
              <a:off x="0" y="-38100"/>
              <a:ext cx="2231708" cy="80862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0" id="30"/>
          <p:cNvSpPr txBox="true"/>
          <p:nvPr/>
        </p:nvSpPr>
        <p:spPr>
          <a:xfrm rot="0">
            <a:off x="12312846" y="1271366"/>
            <a:ext cx="5349745" cy="1686940"/>
          </a:xfrm>
          <a:prstGeom prst="rect">
            <a:avLst/>
          </a:prstGeom>
        </p:spPr>
        <p:txBody>
          <a:bodyPr anchor="t" rtlCol="false" tIns="0" lIns="0" bIns="0" rIns="0">
            <a:spAutoFit/>
          </a:bodyPr>
          <a:lstStyle/>
          <a:p>
            <a:pPr algn="just">
              <a:lnSpc>
                <a:spcPts val="3675"/>
              </a:lnSpc>
            </a:pPr>
            <a:r>
              <a:rPr lang="en-US" sz="2467">
                <a:solidFill>
                  <a:srgbClr val="000000"/>
                </a:solidFill>
                <a:latin typeface="Times New Roman Bold"/>
                <a:ea typeface="Times New Roman Bold"/>
                <a:cs typeface="Times New Roman Bold"/>
                <a:sym typeface="Times New Roman Bold"/>
              </a:rPr>
              <a:t>previous_application .csv</a:t>
            </a:r>
            <a:r>
              <a:rPr lang="en-US" sz="2467">
                <a:solidFill>
                  <a:srgbClr val="000000"/>
                </a:solidFill>
                <a:latin typeface="Times New Roman"/>
                <a:ea typeface="Times New Roman"/>
                <a:cs typeface="Times New Roman"/>
                <a:sym typeface="Times New Roman"/>
              </a:rPr>
              <a:t>: </a:t>
            </a:r>
          </a:p>
          <a:p>
            <a:pPr algn="just" marL="451487" indent="-225744" lvl="1">
              <a:lnSpc>
                <a:spcPts val="3115"/>
              </a:lnSpc>
              <a:buFont typeface="Arial"/>
              <a:buChar char="•"/>
            </a:pPr>
            <a:r>
              <a:rPr lang="en-US" sz="2091">
                <a:solidFill>
                  <a:srgbClr val="000000"/>
                </a:solidFill>
                <a:latin typeface="Times New Roman"/>
                <a:ea typeface="Times New Roman"/>
                <a:cs typeface="Times New Roman"/>
                <a:sym typeface="Times New Roman"/>
              </a:rPr>
              <a:t>Each row in this file corresponds to one previous loan application a customer made to the Home Credit Group. </a:t>
            </a:r>
          </a:p>
        </p:txBody>
      </p:sp>
      <p:grpSp>
        <p:nvGrpSpPr>
          <p:cNvPr name="Group 31" id="31"/>
          <p:cNvGrpSpPr/>
          <p:nvPr/>
        </p:nvGrpSpPr>
        <p:grpSpPr>
          <a:xfrm rot="0">
            <a:off x="12154286" y="4012950"/>
            <a:ext cx="5894855" cy="1984403"/>
            <a:chOff x="0" y="0"/>
            <a:chExt cx="2231708" cy="751267"/>
          </a:xfrm>
        </p:grpSpPr>
        <p:sp>
          <p:nvSpPr>
            <p:cNvPr name="Freeform 32" id="32"/>
            <p:cNvSpPr/>
            <p:nvPr/>
          </p:nvSpPr>
          <p:spPr>
            <a:xfrm flipH="false" flipV="false" rot="0">
              <a:off x="0" y="0"/>
              <a:ext cx="2231708" cy="751267"/>
            </a:xfrm>
            <a:custGeom>
              <a:avLst/>
              <a:gdLst/>
              <a:ahLst/>
              <a:cxnLst/>
              <a:rect r="r" b="b" t="t" l="l"/>
              <a:pathLst>
                <a:path h="751267" w="2231708">
                  <a:moveTo>
                    <a:pt x="19700" y="0"/>
                  </a:moveTo>
                  <a:lnTo>
                    <a:pt x="2212008" y="0"/>
                  </a:lnTo>
                  <a:cubicBezTo>
                    <a:pt x="2222888" y="0"/>
                    <a:pt x="2231708" y="8820"/>
                    <a:pt x="2231708" y="19700"/>
                  </a:cubicBezTo>
                  <a:lnTo>
                    <a:pt x="2231708" y="731567"/>
                  </a:lnTo>
                  <a:cubicBezTo>
                    <a:pt x="2231708" y="742447"/>
                    <a:pt x="2222888" y="751267"/>
                    <a:pt x="2212008" y="751267"/>
                  </a:cubicBezTo>
                  <a:lnTo>
                    <a:pt x="19700" y="751267"/>
                  </a:lnTo>
                  <a:cubicBezTo>
                    <a:pt x="14475" y="751267"/>
                    <a:pt x="9464" y="749191"/>
                    <a:pt x="5770" y="745497"/>
                  </a:cubicBezTo>
                  <a:cubicBezTo>
                    <a:pt x="2076" y="741802"/>
                    <a:pt x="0" y="736791"/>
                    <a:pt x="0" y="731567"/>
                  </a:cubicBezTo>
                  <a:lnTo>
                    <a:pt x="0" y="19700"/>
                  </a:lnTo>
                  <a:cubicBezTo>
                    <a:pt x="0" y="8820"/>
                    <a:pt x="8820" y="0"/>
                    <a:pt x="19700" y="0"/>
                  </a:cubicBezTo>
                  <a:close/>
                </a:path>
              </a:pathLst>
            </a:custGeom>
            <a:solidFill>
              <a:srgbClr val="648E38">
                <a:alpha val="76863"/>
              </a:srgbClr>
            </a:solidFill>
            <a:ln w="9525" cap="sq">
              <a:solidFill>
                <a:srgbClr val="000000">
                  <a:alpha val="76863"/>
                </a:srgbClr>
              </a:solidFill>
              <a:prstDash val="solid"/>
              <a:miter/>
            </a:ln>
          </p:spPr>
        </p:sp>
        <p:sp>
          <p:nvSpPr>
            <p:cNvPr name="TextBox 33" id="33"/>
            <p:cNvSpPr txBox="true"/>
            <p:nvPr/>
          </p:nvSpPr>
          <p:spPr>
            <a:xfrm>
              <a:off x="0" y="-38100"/>
              <a:ext cx="2231708" cy="7893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4" id="34"/>
          <p:cNvSpPr txBox="true"/>
          <p:nvPr/>
        </p:nvSpPr>
        <p:spPr>
          <a:xfrm rot="0">
            <a:off x="12327543" y="4095360"/>
            <a:ext cx="5479782" cy="1525497"/>
          </a:xfrm>
          <a:prstGeom prst="rect">
            <a:avLst/>
          </a:prstGeom>
        </p:spPr>
        <p:txBody>
          <a:bodyPr anchor="t" rtlCol="false" tIns="0" lIns="0" bIns="0" rIns="0">
            <a:spAutoFit/>
          </a:bodyPr>
          <a:lstStyle/>
          <a:p>
            <a:pPr algn="just">
              <a:lnSpc>
                <a:spcPts val="3341"/>
              </a:lnSpc>
            </a:pPr>
            <a:r>
              <a:rPr lang="en-US" sz="2242">
                <a:solidFill>
                  <a:srgbClr val="000000"/>
                </a:solidFill>
                <a:latin typeface="Times New Roman Bold"/>
                <a:ea typeface="Times New Roman Bold"/>
                <a:cs typeface="Times New Roman Bold"/>
                <a:sym typeface="Times New Roman Bold"/>
              </a:rPr>
              <a:t>credit_card_balance.csv</a:t>
            </a:r>
            <a:r>
              <a:rPr lang="en-US" sz="2242">
                <a:solidFill>
                  <a:srgbClr val="000000"/>
                </a:solidFill>
                <a:latin typeface="Times New Roman"/>
                <a:ea typeface="Times New Roman"/>
                <a:cs typeface="Times New Roman"/>
                <a:sym typeface="Times New Roman"/>
              </a:rPr>
              <a:t>: </a:t>
            </a:r>
          </a:p>
          <a:p>
            <a:pPr algn="just" marL="410359" indent="-205179" lvl="1">
              <a:lnSpc>
                <a:spcPts val="2832"/>
              </a:lnSpc>
              <a:buFont typeface="Arial"/>
              <a:buChar char="•"/>
            </a:pPr>
            <a:r>
              <a:rPr lang="en-US" sz="1900">
                <a:solidFill>
                  <a:srgbClr val="000000"/>
                </a:solidFill>
                <a:latin typeface="Times New Roman"/>
                <a:ea typeface="Times New Roman"/>
                <a:cs typeface="Times New Roman"/>
                <a:sym typeface="Times New Roman"/>
              </a:rPr>
              <a:t>This file contains the monthly records of the previous credit cards a customer had with the Home Credit Group. </a:t>
            </a:r>
          </a:p>
        </p:txBody>
      </p:sp>
      <p:grpSp>
        <p:nvGrpSpPr>
          <p:cNvPr name="Group 35" id="35"/>
          <p:cNvGrpSpPr/>
          <p:nvPr/>
        </p:nvGrpSpPr>
        <p:grpSpPr>
          <a:xfrm rot="0">
            <a:off x="12312776" y="7059768"/>
            <a:ext cx="5359270" cy="2117779"/>
            <a:chOff x="0" y="0"/>
            <a:chExt cx="2028943" cy="801761"/>
          </a:xfrm>
        </p:grpSpPr>
        <p:sp>
          <p:nvSpPr>
            <p:cNvPr name="Freeform 36" id="36"/>
            <p:cNvSpPr/>
            <p:nvPr/>
          </p:nvSpPr>
          <p:spPr>
            <a:xfrm flipH="false" flipV="false" rot="0">
              <a:off x="0" y="0"/>
              <a:ext cx="2028943" cy="801761"/>
            </a:xfrm>
            <a:custGeom>
              <a:avLst/>
              <a:gdLst/>
              <a:ahLst/>
              <a:cxnLst/>
              <a:rect r="r" b="b" t="t" l="l"/>
              <a:pathLst>
                <a:path h="801761" w="2028943">
                  <a:moveTo>
                    <a:pt x="21669" y="0"/>
                  </a:moveTo>
                  <a:lnTo>
                    <a:pt x="2007274" y="0"/>
                  </a:lnTo>
                  <a:cubicBezTo>
                    <a:pt x="2019241" y="0"/>
                    <a:pt x="2028943" y="9701"/>
                    <a:pt x="2028943" y="21669"/>
                  </a:cubicBezTo>
                  <a:lnTo>
                    <a:pt x="2028943" y="780092"/>
                  </a:lnTo>
                  <a:cubicBezTo>
                    <a:pt x="2028943" y="785839"/>
                    <a:pt x="2026660" y="791350"/>
                    <a:pt x="2022596" y="795414"/>
                  </a:cubicBezTo>
                  <a:cubicBezTo>
                    <a:pt x="2018533" y="799478"/>
                    <a:pt x="2013021" y="801761"/>
                    <a:pt x="2007274" y="801761"/>
                  </a:cubicBezTo>
                  <a:lnTo>
                    <a:pt x="21669" y="801761"/>
                  </a:lnTo>
                  <a:cubicBezTo>
                    <a:pt x="15922" y="801761"/>
                    <a:pt x="10410" y="799478"/>
                    <a:pt x="6347" y="795414"/>
                  </a:cubicBezTo>
                  <a:cubicBezTo>
                    <a:pt x="2283" y="791350"/>
                    <a:pt x="0" y="785839"/>
                    <a:pt x="0" y="780092"/>
                  </a:cubicBezTo>
                  <a:lnTo>
                    <a:pt x="0" y="21669"/>
                  </a:lnTo>
                  <a:cubicBezTo>
                    <a:pt x="0" y="15922"/>
                    <a:pt x="2283" y="10410"/>
                    <a:pt x="6347" y="6347"/>
                  </a:cubicBezTo>
                  <a:cubicBezTo>
                    <a:pt x="10410" y="2283"/>
                    <a:pt x="15922" y="0"/>
                    <a:pt x="21669" y="0"/>
                  </a:cubicBezTo>
                  <a:close/>
                </a:path>
              </a:pathLst>
            </a:custGeom>
            <a:solidFill>
              <a:srgbClr val="8AB7E2">
                <a:alpha val="76863"/>
              </a:srgbClr>
            </a:solidFill>
            <a:ln w="9525" cap="sq">
              <a:solidFill>
                <a:srgbClr val="000000">
                  <a:alpha val="76863"/>
                </a:srgbClr>
              </a:solidFill>
              <a:prstDash val="solid"/>
              <a:miter/>
            </a:ln>
          </p:spPr>
        </p:sp>
        <p:sp>
          <p:nvSpPr>
            <p:cNvPr name="TextBox 37" id="37"/>
            <p:cNvSpPr txBox="true"/>
            <p:nvPr/>
          </p:nvSpPr>
          <p:spPr>
            <a:xfrm>
              <a:off x="0" y="-38100"/>
              <a:ext cx="2028943" cy="8398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8" id="38"/>
          <p:cNvSpPr txBox="true"/>
          <p:nvPr/>
        </p:nvSpPr>
        <p:spPr>
          <a:xfrm rot="0">
            <a:off x="12486032" y="7132653"/>
            <a:ext cx="4986810" cy="1931115"/>
          </a:xfrm>
          <a:prstGeom prst="rect">
            <a:avLst/>
          </a:prstGeom>
        </p:spPr>
        <p:txBody>
          <a:bodyPr anchor="t" rtlCol="false" tIns="0" lIns="0" bIns="0" rIns="0">
            <a:spAutoFit/>
          </a:bodyPr>
          <a:lstStyle/>
          <a:p>
            <a:pPr algn="just">
              <a:lnSpc>
                <a:spcPts val="3412"/>
              </a:lnSpc>
            </a:pPr>
            <a:r>
              <a:rPr lang="en-US" sz="2290">
                <a:solidFill>
                  <a:srgbClr val="000000"/>
                </a:solidFill>
                <a:latin typeface="Times New Roman Bold"/>
                <a:ea typeface="Times New Roman Bold"/>
                <a:cs typeface="Times New Roman Bold"/>
                <a:sym typeface="Times New Roman Bold"/>
              </a:rPr>
              <a:t>POS_CASH_balance.csv</a:t>
            </a:r>
            <a:r>
              <a:rPr lang="en-US" sz="2290">
                <a:solidFill>
                  <a:srgbClr val="000000"/>
                </a:solidFill>
                <a:latin typeface="Times New Roman"/>
                <a:ea typeface="Times New Roman"/>
                <a:cs typeface="Times New Roman"/>
                <a:sym typeface="Times New Roman"/>
              </a:rPr>
              <a:t>: </a:t>
            </a:r>
          </a:p>
          <a:p>
            <a:pPr algn="just" marL="419151" indent="-209575" lvl="1">
              <a:lnSpc>
                <a:spcPts val="2892"/>
              </a:lnSpc>
              <a:buFont typeface="Arial"/>
              <a:buChar char="•"/>
            </a:pPr>
            <a:r>
              <a:rPr lang="en-US" sz="1941">
                <a:solidFill>
                  <a:srgbClr val="000000"/>
                </a:solidFill>
                <a:latin typeface="Times New Roman"/>
                <a:ea typeface="Times New Roman"/>
                <a:cs typeface="Times New Roman"/>
                <a:sym typeface="Times New Roman"/>
              </a:rPr>
              <a:t>This file contains the monthly snapshots of the previous loan applications that the customers had with the Home Credit Group.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886757" y="3808428"/>
            <a:ext cx="20061513"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0">
            <a:off x="6400637" y="3557400"/>
            <a:ext cx="502056" cy="5020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5" id="5"/>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6" id="6"/>
          <p:cNvGrpSpPr/>
          <p:nvPr/>
        </p:nvGrpSpPr>
        <p:grpSpPr>
          <a:xfrm rot="0">
            <a:off x="1865808" y="3557400"/>
            <a:ext cx="502056" cy="5020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name="TextBox 8" id="8"/>
            <p:cNvSpPr txBox="true"/>
            <p:nvPr/>
          </p:nvSpPr>
          <p:spPr>
            <a:xfrm>
              <a:off x="190500" y="219075"/>
              <a:ext cx="431800" cy="403225"/>
            </a:xfrm>
            <a:prstGeom prst="rect">
              <a:avLst/>
            </a:prstGeom>
          </p:spPr>
          <p:txBody>
            <a:bodyPr anchor="ctr" rtlCol="false" tIns="50800" lIns="50800" bIns="50800" rIns="50800"/>
            <a:lstStyle/>
            <a:p>
              <a:pPr algn="ctr">
                <a:lnSpc>
                  <a:spcPts val="2266"/>
                </a:lnSpc>
              </a:pPr>
            </a:p>
          </p:txBody>
        </p:sp>
      </p:grpSp>
      <p:grpSp>
        <p:nvGrpSpPr>
          <p:cNvPr name="Group 9" id="9"/>
          <p:cNvGrpSpPr/>
          <p:nvPr/>
        </p:nvGrpSpPr>
        <p:grpSpPr>
          <a:xfrm rot="0">
            <a:off x="11046431" y="3557400"/>
            <a:ext cx="502056" cy="5020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1" id="11"/>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2" id="12"/>
          <p:cNvGrpSpPr/>
          <p:nvPr/>
        </p:nvGrpSpPr>
        <p:grpSpPr>
          <a:xfrm rot="0">
            <a:off x="15691862" y="3557400"/>
            <a:ext cx="502056" cy="50205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4" id="14"/>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5" id="15"/>
          <p:cNvSpPr txBox="true"/>
          <p:nvPr/>
        </p:nvSpPr>
        <p:spPr>
          <a:xfrm rot="0">
            <a:off x="257057" y="1627635"/>
            <a:ext cx="17773887" cy="1348740"/>
          </a:xfrm>
          <a:prstGeom prst="rect">
            <a:avLst/>
          </a:prstGeom>
        </p:spPr>
        <p:txBody>
          <a:bodyPr anchor="t" rtlCol="false" tIns="0" lIns="0" bIns="0" rIns="0">
            <a:spAutoFit/>
          </a:bodyPr>
          <a:lstStyle/>
          <a:p>
            <a:pPr algn="ctr" marL="0" indent="0" lvl="1">
              <a:lnSpc>
                <a:spcPts val="8730"/>
              </a:lnSpc>
              <a:spcBef>
                <a:spcPct val="0"/>
              </a:spcBef>
            </a:pPr>
            <a:r>
              <a:rPr lang="en-US" sz="9000">
                <a:solidFill>
                  <a:srgbClr val="000000"/>
                </a:solidFill>
                <a:latin typeface="Times New Roman Bold"/>
                <a:ea typeface="Times New Roman Bold"/>
                <a:cs typeface="Times New Roman Bold"/>
                <a:sym typeface="Times New Roman Bold"/>
              </a:rPr>
              <a:t>Analysis Process and Approach</a:t>
            </a:r>
          </a:p>
        </p:txBody>
      </p:sp>
      <p:sp>
        <p:nvSpPr>
          <p:cNvPr name="Freeform 16" id="16"/>
          <p:cNvSpPr/>
          <p:nvPr/>
        </p:nvSpPr>
        <p:spPr>
          <a:xfrm flipH="false" flipV="false" rot="0">
            <a:off x="-1573240" y="8893298"/>
            <a:ext cx="4051334" cy="2765036"/>
          </a:xfrm>
          <a:custGeom>
            <a:avLst/>
            <a:gdLst/>
            <a:ahLst/>
            <a:cxnLst/>
            <a:rect r="r" b="b" t="t" l="l"/>
            <a:pathLst>
              <a:path h="2765036" w="4051334">
                <a:moveTo>
                  <a:pt x="0" y="0"/>
                </a:moveTo>
                <a:lnTo>
                  <a:pt x="4051334" y="0"/>
                </a:lnTo>
                <a:lnTo>
                  <a:pt x="4051334" y="2765036"/>
                </a:lnTo>
                <a:lnTo>
                  <a:pt x="0" y="2765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268215" y="4861144"/>
            <a:ext cx="3957577" cy="2454465"/>
            <a:chOff x="0" y="0"/>
            <a:chExt cx="1498282" cy="929225"/>
          </a:xfrm>
        </p:grpSpPr>
        <p:sp>
          <p:nvSpPr>
            <p:cNvPr name="Freeform 18" id="18"/>
            <p:cNvSpPr/>
            <p:nvPr/>
          </p:nvSpPr>
          <p:spPr>
            <a:xfrm flipH="false" flipV="false" rot="0">
              <a:off x="0" y="0"/>
              <a:ext cx="1498282" cy="929225"/>
            </a:xfrm>
            <a:custGeom>
              <a:avLst/>
              <a:gdLst/>
              <a:ahLst/>
              <a:cxnLst/>
              <a:rect r="r" b="b" t="t" l="l"/>
              <a:pathLst>
                <a:path h="929225" w="1498282">
                  <a:moveTo>
                    <a:pt x="29343" y="0"/>
                  </a:moveTo>
                  <a:lnTo>
                    <a:pt x="1468939" y="0"/>
                  </a:lnTo>
                  <a:cubicBezTo>
                    <a:pt x="1476721" y="0"/>
                    <a:pt x="1484185" y="3092"/>
                    <a:pt x="1489688" y="8594"/>
                  </a:cubicBezTo>
                  <a:cubicBezTo>
                    <a:pt x="1495190" y="14097"/>
                    <a:pt x="1498282" y="21561"/>
                    <a:pt x="1498282" y="29343"/>
                  </a:cubicBezTo>
                  <a:lnTo>
                    <a:pt x="1498282" y="899882"/>
                  </a:lnTo>
                  <a:cubicBezTo>
                    <a:pt x="1498282" y="916088"/>
                    <a:pt x="1485145" y="929225"/>
                    <a:pt x="1468939" y="929225"/>
                  </a:cubicBezTo>
                  <a:lnTo>
                    <a:pt x="29343" y="929225"/>
                  </a:lnTo>
                  <a:cubicBezTo>
                    <a:pt x="13137" y="929225"/>
                    <a:pt x="0" y="916088"/>
                    <a:pt x="0" y="899882"/>
                  </a:cubicBezTo>
                  <a:lnTo>
                    <a:pt x="0" y="29343"/>
                  </a:lnTo>
                  <a:cubicBezTo>
                    <a:pt x="0" y="13137"/>
                    <a:pt x="13137" y="0"/>
                    <a:pt x="29343" y="0"/>
                  </a:cubicBezTo>
                  <a:close/>
                </a:path>
              </a:pathLst>
            </a:custGeom>
            <a:solidFill>
              <a:srgbClr val="8AB7E2"/>
            </a:solidFill>
            <a:ln w="9525" cap="sq">
              <a:solidFill>
                <a:srgbClr val="000000"/>
              </a:solidFill>
              <a:prstDash val="solid"/>
              <a:miter/>
            </a:ln>
          </p:spPr>
        </p:sp>
        <p:sp>
          <p:nvSpPr>
            <p:cNvPr name="TextBox 19" id="19"/>
            <p:cNvSpPr txBox="true"/>
            <p:nvPr/>
          </p:nvSpPr>
          <p:spPr>
            <a:xfrm>
              <a:off x="0" y="-38100"/>
              <a:ext cx="1498282" cy="96732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0" id="20"/>
          <p:cNvSpPr txBox="true"/>
          <p:nvPr/>
        </p:nvSpPr>
        <p:spPr>
          <a:xfrm rot="0">
            <a:off x="1808658" y="4072156"/>
            <a:ext cx="895740" cy="774701"/>
          </a:xfrm>
          <a:prstGeom prst="rect">
            <a:avLst/>
          </a:prstGeom>
        </p:spPr>
        <p:txBody>
          <a:bodyPr anchor="t" rtlCol="false" tIns="0" lIns="0" bIns="0" rIns="0">
            <a:spAutoFit/>
          </a:bodyPr>
          <a:lstStyle/>
          <a:p>
            <a:pPr algn="l">
              <a:lnSpc>
                <a:spcPts val="5150"/>
              </a:lnSpc>
            </a:pPr>
            <a:r>
              <a:rPr lang="en-US" sz="5000">
                <a:solidFill>
                  <a:srgbClr val="000000"/>
                </a:solidFill>
                <a:latin typeface="Times New Roman Bold"/>
                <a:ea typeface="Times New Roman Bold"/>
                <a:cs typeface="Times New Roman Bold"/>
                <a:sym typeface="Times New Roman Bold"/>
              </a:rPr>
              <a:t>01</a:t>
            </a:r>
          </a:p>
        </p:txBody>
      </p:sp>
      <p:sp>
        <p:nvSpPr>
          <p:cNvPr name="TextBox 21" id="21"/>
          <p:cNvSpPr txBox="true"/>
          <p:nvPr/>
        </p:nvSpPr>
        <p:spPr>
          <a:xfrm rot="0">
            <a:off x="6317962" y="4040406"/>
            <a:ext cx="775594" cy="774701"/>
          </a:xfrm>
          <a:prstGeom prst="rect">
            <a:avLst/>
          </a:prstGeom>
        </p:spPr>
        <p:txBody>
          <a:bodyPr anchor="t" rtlCol="false" tIns="0" lIns="0" bIns="0" rIns="0">
            <a:spAutoFit/>
          </a:bodyPr>
          <a:lstStyle/>
          <a:p>
            <a:pPr algn="l">
              <a:lnSpc>
                <a:spcPts val="5150"/>
              </a:lnSpc>
            </a:pPr>
            <a:r>
              <a:rPr lang="en-US" sz="5000">
                <a:solidFill>
                  <a:srgbClr val="000000"/>
                </a:solidFill>
                <a:latin typeface="Times New Roman Bold"/>
                <a:ea typeface="Times New Roman Bold"/>
                <a:cs typeface="Times New Roman Bold"/>
                <a:sym typeface="Times New Roman Bold"/>
              </a:rPr>
              <a:t>02</a:t>
            </a:r>
          </a:p>
        </p:txBody>
      </p:sp>
      <p:sp>
        <p:nvSpPr>
          <p:cNvPr name="TextBox 22" id="22"/>
          <p:cNvSpPr txBox="true"/>
          <p:nvPr/>
        </p:nvSpPr>
        <p:spPr>
          <a:xfrm rot="0">
            <a:off x="365419" y="4898268"/>
            <a:ext cx="3730956" cy="2228888"/>
          </a:xfrm>
          <a:prstGeom prst="rect">
            <a:avLst/>
          </a:prstGeom>
        </p:spPr>
        <p:txBody>
          <a:bodyPr anchor="t" rtlCol="false" tIns="0" lIns="0" bIns="0" rIns="0">
            <a:spAutoFit/>
          </a:bodyPr>
          <a:lstStyle/>
          <a:p>
            <a:pPr algn="just">
              <a:lnSpc>
                <a:spcPts val="3898"/>
              </a:lnSpc>
            </a:pPr>
            <a:r>
              <a:rPr lang="en-US" sz="2499">
                <a:solidFill>
                  <a:srgbClr val="000000"/>
                </a:solidFill>
                <a:latin typeface="Times New Roman Bold"/>
                <a:ea typeface="Times New Roman Bold"/>
                <a:cs typeface="Times New Roman Bold"/>
                <a:sym typeface="Times New Roman Bold"/>
              </a:rPr>
              <a:t>Initial Filtering Based on Descriptive Statistics</a:t>
            </a:r>
            <a:r>
              <a:rPr lang="en-US" sz="2499">
                <a:solidFill>
                  <a:srgbClr val="000000"/>
                </a:solidFill>
                <a:latin typeface="Times New Roman"/>
                <a:ea typeface="Times New Roman"/>
                <a:cs typeface="Times New Roman"/>
                <a:sym typeface="Times New Roman"/>
              </a:rPr>
              <a:t> </a:t>
            </a:r>
          </a:p>
          <a:p>
            <a:pPr algn="just" marL="449630" indent="-224815" lvl="1">
              <a:lnSpc>
                <a:spcPts val="3248"/>
              </a:lnSpc>
              <a:buFont typeface="Arial"/>
              <a:buChar char="•"/>
            </a:pPr>
            <a:r>
              <a:rPr lang="en-US" sz="2082">
                <a:solidFill>
                  <a:srgbClr val="000000"/>
                </a:solidFill>
                <a:latin typeface="Times New Roman"/>
                <a:ea typeface="Times New Roman"/>
                <a:cs typeface="Times New Roman"/>
                <a:sym typeface="Times New Roman"/>
              </a:rPr>
              <a:t>Standard Deviation</a:t>
            </a:r>
          </a:p>
          <a:p>
            <a:pPr algn="just" marL="449630" indent="-224815" lvl="1">
              <a:lnSpc>
                <a:spcPts val="3248"/>
              </a:lnSpc>
              <a:buFont typeface="Arial"/>
              <a:buChar char="•"/>
            </a:pPr>
            <a:r>
              <a:rPr lang="en-US" sz="2082">
                <a:solidFill>
                  <a:srgbClr val="000000"/>
                </a:solidFill>
                <a:latin typeface="Times New Roman"/>
                <a:ea typeface="Times New Roman"/>
                <a:cs typeface="Times New Roman"/>
                <a:sym typeface="Times New Roman"/>
              </a:rPr>
              <a:t>Box Plots </a:t>
            </a:r>
          </a:p>
          <a:p>
            <a:pPr algn="just" marL="449630" indent="-224815" lvl="1">
              <a:lnSpc>
                <a:spcPts val="3248"/>
              </a:lnSpc>
              <a:buFont typeface="Arial"/>
              <a:buChar char="•"/>
            </a:pPr>
            <a:r>
              <a:rPr lang="en-US" sz="2082">
                <a:solidFill>
                  <a:srgbClr val="000000"/>
                </a:solidFill>
                <a:latin typeface="Times New Roman"/>
                <a:ea typeface="Times New Roman"/>
                <a:cs typeface="Times New Roman"/>
                <a:sym typeface="Times New Roman"/>
              </a:rPr>
              <a:t>Null Values</a:t>
            </a:r>
          </a:p>
        </p:txBody>
      </p:sp>
      <p:sp>
        <p:nvSpPr>
          <p:cNvPr name="TextBox 23" id="23"/>
          <p:cNvSpPr txBox="true"/>
          <p:nvPr/>
        </p:nvSpPr>
        <p:spPr>
          <a:xfrm rot="0">
            <a:off x="10975449" y="4040406"/>
            <a:ext cx="758901" cy="774701"/>
          </a:xfrm>
          <a:prstGeom prst="rect">
            <a:avLst/>
          </a:prstGeom>
        </p:spPr>
        <p:txBody>
          <a:bodyPr anchor="t" rtlCol="false" tIns="0" lIns="0" bIns="0" rIns="0">
            <a:spAutoFit/>
          </a:bodyPr>
          <a:lstStyle/>
          <a:p>
            <a:pPr algn="l">
              <a:lnSpc>
                <a:spcPts val="5150"/>
              </a:lnSpc>
            </a:pPr>
            <a:r>
              <a:rPr lang="en-US" sz="5000">
                <a:solidFill>
                  <a:srgbClr val="000000"/>
                </a:solidFill>
                <a:latin typeface="Times New Roman Bold"/>
                <a:ea typeface="Times New Roman Bold"/>
                <a:cs typeface="Times New Roman Bold"/>
                <a:sym typeface="Times New Roman Bold"/>
              </a:rPr>
              <a:t>03</a:t>
            </a:r>
          </a:p>
        </p:txBody>
      </p:sp>
      <p:sp>
        <p:nvSpPr>
          <p:cNvPr name="TextBox 24" id="24"/>
          <p:cNvSpPr txBox="true"/>
          <p:nvPr/>
        </p:nvSpPr>
        <p:spPr>
          <a:xfrm rot="0">
            <a:off x="15513343" y="4086444"/>
            <a:ext cx="859094" cy="774701"/>
          </a:xfrm>
          <a:prstGeom prst="rect">
            <a:avLst/>
          </a:prstGeom>
        </p:spPr>
        <p:txBody>
          <a:bodyPr anchor="t" rtlCol="false" tIns="0" lIns="0" bIns="0" rIns="0">
            <a:spAutoFit/>
          </a:bodyPr>
          <a:lstStyle/>
          <a:p>
            <a:pPr algn="l">
              <a:lnSpc>
                <a:spcPts val="5150"/>
              </a:lnSpc>
            </a:pPr>
            <a:r>
              <a:rPr lang="en-US" sz="5000">
                <a:solidFill>
                  <a:srgbClr val="000000"/>
                </a:solidFill>
                <a:latin typeface="Times New Roman Bold"/>
                <a:ea typeface="Times New Roman Bold"/>
                <a:cs typeface="Times New Roman Bold"/>
                <a:sym typeface="Times New Roman Bold"/>
              </a:rPr>
              <a:t>04</a:t>
            </a:r>
          </a:p>
        </p:txBody>
      </p:sp>
      <p:sp>
        <p:nvSpPr>
          <p:cNvPr name="Freeform 25" id="25"/>
          <p:cNvSpPr/>
          <p:nvPr/>
        </p:nvSpPr>
        <p:spPr>
          <a:xfrm flipH="false" flipV="false" rot="0">
            <a:off x="15262955" y="8864586"/>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6" id="26"/>
          <p:cNvSpPr/>
          <p:nvPr/>
        </p:nvSpPr>
        <p:spPr>
          <a:xfrm flipH="false" flipV="false" rot="0">
            <a:off x="-674156" y="-1322787"/>
            <a:ext cx="4224468" cy="2645573"/>
          </a:xfrm>
          <a:custGeom>
            <a:avLst/>
            <a:gdLst/>
            <a:ahLst/>
            <a:cxnLst/>
            <a:rect r="r" b="b" t="t" l="l"/>
            <a:pathLst>
              <a:path h="2645573" w="4224468">
                <a:moveTo>
                  <a:pt x="0" y="0"/>
                </a:moveTo>
                <a:lnTo>
                  <a:pt x="4224468" y="0"/>
                </a:lnTo>
                <a:lnTo>
                  <a:pt x="4224468" y="2645574"/>
                </a:lnTo>
                <a:lnTo>
                  <a:pt x="0" y="2645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7" id="27"/>
          <p:cNvSpPr/>
          <p:nvPr/>
        </p:nvSpPr>
        <p:spPr>
          <a:xfrm flipH="false" flipV="false" rot="0">
            <a:off x="11101574"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8" id="28"/>
          <p:cNvSpPr/>
          <p:nvPr/>
        </p:nvSpPr>
        <p:spPr>
          <a:xfrm flipH="false" flipV="false" rot="0">
            <a:off x="9653627" y="-3037933"/>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29" id="29"/>
          <p:cNvSpPr/>
          <p:nvPr/>
        </p:nvSpPr>
        <p:spPr>
          <a:xfrm flipH="false" flipV="false" rot="-5400000">
            <a:off x="4745771" y="-1877331"/>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30" id="30"/>
          <p:cNvSpPr/>
          <p:nvPr/>
        </p:nvSpPr>
        <p:spPr>
          <a:xfrm flipH="false" flipV="false" rot="0">
            <a:off x="2932282" y="9271808"/>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31" id="31"/>
          <p:cNvSpPr/>
          <p:nvPr/>
        </p:nvSpPr>
        <p:spPr>
          <a:xfrm flipH="false" flipV="false" rot="0">
            <a:off x="15262955" y="-1072630"/>
            <a:ext cx="1996345" cy="2149497"/>
          </a:xfrm>
          <a:custGeom>
            <a:avLst/>
            <a:gdLst/>
            <a:ahLst/>
            <a:cxnLst/>
            <a:rect r="r" b="b" t="t" l="l"/>
            <a:pathLst>
              <a:path h="2149497" w="1996345">
                <a:moveTo>
                  <a:pt x="0" y="0"/>
                </a:moveTo>
                <a:lnTo>
                  <a:pt x="1996345" y="0"/>
                </a:lnTo>
                <a:lnTo>
                  <a:pt x="1996345" y="2149497"/>
                </a:lnTo>
                <a:lnTo>
                  <a:pt x="0" y="21494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grpSp>
        <p:nvGrpSpPr>
          <p:cNvPr name="Group 32" id="32"/>
          <p:cNvGrpSpPr/>
          <p:nvPr/>
        </p:nvGrpSpPr>
        <p:grpSpPr>
          <a:xfrm rot="0">
            <a:off x="4726971" y="4878606"/>
            <a:ext cx="3957577" cy="3076665"/>
            <a:chOff x="0" y="0"/>
            <a:chExt cx="1498282" cy="1164781"/>
          </a:xfrm>
        </p:grpSpPr>
        <p:sp>
          <p:nvSpPr>
            <p:cNvPr name="Freeform 33" id="33"/>
            <p:cNvSpPr/>
            <p:nvPr/>
          </p:nvSpPr>
          <p:spPr>
            <a:xfrm flipH="false" flipV="false" rot="0">
              <a:off x="0" y="0"/>
              <a:ext cx="1498282" cy="1164781"/>
            </a:xfrm>
            <a:custGeom>
              <a:avLst/>
              <a:gdLst/>
              <a:ahLst/>
              <a:cxnLst/>
              <a:rect r="r" b="b" t="t" l="l"/>
              <a:pathLst>
                <a:path h="1164781" w="1498282">
                  <a:moveTo>
                    <a:pt x="29343" y="0"/>
                  </a:moveTo>
                  <a:lnTo>
                    <a:pt x="1468939" y="0"/>
                  </a:lnTo>
                  <a:cubicBezTo>
                    <a:pt x="1476721" y="0"/>
                    <a:pt x="1484185" y="3092"/>
                    <a:pt x="1489688" y="8594"/>
                  </a:cubicBezTo>
                  <a:cubicBezTo>
                    <a:pt x="1495190" y="14097"/>
                    <a:pt x="1498282" y="21561"/>
                    <a:pt x="1498282" y="29343"/>
                  </a:cubicBezTo>
                  <a:lnTo>
                    <a:pt x="1498282" y="1135438"/>
                  </a:lnTo>
                  <a:cubicBezTo>
                    <a:pt x="1498282" y="1151644"/>
                    <a:pt x="1485145" y="1164781"/>
                    <a:pt x="1468939" y="1164781"/>
                  </a:cubicBezTo>
                  <a:lnTo>
                    <a:pt x="29343" y="1164781"/>
                  </a:lnTo>
                  <a:cubicBezTo>
                    <a:pt x="21561" y="1164781"/>
                    <a:pt x="14097" y="1161690"/>
                    <a:pt x="8594" y="1156187"/>
                  </a:cubicBezTo>
                  <a:cubicBezTo>
                    <a:pt x="3092" y="1150684"/>
                    <a:pt x="0" y="1143220"/>
                    <a:pt x="0" y="1135438"/>
                  </a:cubicBezTo>
                  <a:lnTo>
                    <a:pt x="0" y="29343"/>
                  </a:lnTo>
                  <a:cubicBezTo>
                    <a:pt x="0" y="13137"/>
                    <a:pt x="13137" y="0"/>
                    <a:pt x="29343" y="0"/>
                  </a:cubicBezTo>
                  <a:close/>
                </a:path>
              </a:pathLst>
            </a:custGeom>
            <a:solidFill>
              <a:srgbClr val="8AB7E2"/>
            </a:solidFill>
            <a:ln w="9525" cap="sq">
              <a:solidFill>
                <a:srgbClr val="000000"/>
              </a:solidFill>
              <a:prstDash val="solid"/>
              <a:miter/>
            </a:ln>
          </p:spPr>
        </p:sp>
        <p:sp>
          <p:nvSpPr>
            <p:cNvPr name="TextBox 34" id="34"/>
            <p:cNvSpPr txBox="true"/>
            <p:nvPr/>
          </p:nvSpPr>
          <p:spPr>
            <a:xfrm>
              <a:off x="0" y="-38100"/>
              <a:ext cx="1498282" cy="12028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4824175" y="4896681"/>
            <a:ext cx="3601660" cy="2970164"/>
          </a:xfrm>
          <a:prstGeom prst="rect">
            <a:avLst/>
          </a:prstGeom>
        </p:spPr>
        <p:txBody>
          <a:bodyPr anchor="t" rtlCol="false" tIns="0" lIns="0" bIns="0" rIns="0">
            <a:spAutoFit/>
          </a:bodyPr>
          <a:lstStyle/>
          <a:p>
            <a:pPr algn="just">
              <a:lnSpc>
                <a:spcPts val="4236"/>
              </a:lnSpc>
            </a:pPr>
            <a:r>
              <a:rPr lang="en-US" sz="2715">
                <a:solidFill>
                  <a:srgbClr val="000000"/>
                </a:solidFill>
                <a:latin typeface="Times New Roman Bold"/>
                <a:ea typeface="Times New Roman Bold"/>
                <a:cs typeface="Times New Roman Bold"/>
                <a:sym typeface="Times New Roman Bold"/>
              </a:rPr>
              <a:t>Further Analysis on the Retained Attributes and Outlier Detection</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Kernel Density Plot </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Histogram of Default Percentage</a:t>
            </a:r>
          </a:p>
        </p:txBody>
      </p:sp>
      <p:grpSp>
        <p:nvGrpSpPr>
          <p:cNvPr name="Group 36" id="36"/>
          <p:cNvGrpSpPr/>
          <p:nvPr/>
        </p:nvGrpSpPr>
        <p:grpSpPr>
          <a:xfrm rot="0">
            <a:off x="9456864" y="4846857"/>
            <a:ext cx="3957577" cy="2653175"/>
            <a:chOff x="0" y="0"/>
            <a:chExt cx="1498282" cy="1004454"/>
          </a:xfrm>
        </p:grpSpPr>
        <p:sp>
          <p:nvSpPr>
            <p:cNvPr name="Freeform 37" id="37"/>
            <p:cNvSpPr/>
            <p:nvPr/>
          </p:nvSpPr>
          <p:spPr>
            <a:xfrm flipH="false" flipV="false" rot="0">
              <a:off x="0" y="0"/>
              <a:ext cx="1498282" cy="1004454"/>
            </a:xfrm>
            <a:custGeom>
              <a:avLst/>
              <a:gdLst/>
              <a:ahLst/>
              <a:cxnLst/>
              <a:rect r="r" b="b" t="t" l="l"/>
              <a:pathLst>
                <a:path h="1004454" w="1498282">
                  <a:moveTo>
                    <a:pt x="29343" y="0"/>
                  </a:moveTo>
                  <a:lnTo>
                    <a:pt x="1468939" y="0"/>
                  </a:lnTo>
                  <a:cubicBezTo>
                    <a:pt x="1476721" y="0"/>
                    <a:pt x="1484185" y="3092"/>
                    <a:pt x="1489688" y="8594"/>
                  </a:cubicBezTo>
                  <a:cubicBezTo>
                    <a:pt x="1495190" y="14097"/>
                    <a:pt x="1498282" y="21561"/>
                    <a:pt x="1498282" y="29343"/>
                  </a:cubicBezTo>
                  <a:lnTo>
                    <a:pt x="1498282" y="975111"/>
                  </a:lnTo>
                  <a:cubicBezTo>
                    <a:pt x="1498282" y="991317"/>
                    <a:pt x="1485145" y="1004454"/>
                    <a:pt x="1468939" y="1004454"/>
                  </a:cubicBezTo>
                  <a:lnTo>
                    <a:pt x="29343" y="1004454"/>
                  </a:lnTo>
                  <a:cubicBezTo>
                    <a:pt x="13137" y="1004454"/>
                    <a:pt x="0" y="991317"/>
                    <a:pt x="0" y="975111"/>
                  </a:cubicBezTo>
                  <a:lnTo>
                    <a:pt x="0" y="29343"/>
                  </a:lnTo>
                  <a:cubicBezTo>
                    <a:pt x="0" y="13137"/>
                    <a:pt x="13137" y="0"/>
                    <a:pt x="29343" y="0"/>
                  </a:cubicBezTo>
                  <a:close/>
                </a:path>
              </a:pathLst>
            </a:custGeom>
            <a:solidFill>
              <a:srgbClr val="8AB7E2"/>
            </a:solidFill>
            <a:ln w="9525" cap="sq">
              <a:solidFill>
                <a:srgbClr val="000000"/>
              </a:solidFill>
              <a:prstDash val="solid"/>
              <a:miter/>
            </a:ln>
          </p:spPr>
        </p:sp>
        <p:sp>
          <p:nvSpPr>
            <p:cNvPr name="TextBox 38" id="38"/>
            <p:cNvSpPr txBox="true"/>
            <p:nvPr/>
          </p:nvSpPr>
          <p:spPr>
            <a:xfrm>
              <a:off x="0" y="-38100"/>
              <a:ext cx="1498282" cy="104255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9" id="39"/>
          <p:cNvSpPr txBox="true"/>
          <p:nvPr/>
        </p:nvSpPr>
        <p:spPr>
          <a:xfrm rot="0">
            <a:off x="9554069" y="4864931"/>
            <a:ext cx="3601660" cy="2438456"/>
          </a:xfrm>
          <a:prstGeom prst="rect">
            <a:avLst/>
          </a:prstGeom>
        </p:spPr>
        <p:txBody>
          <a:bodyPr anchor="t" rtlCol="false" tIns="0" lIns="0" bIns="0" rIns="0">
            <a:spAutoFit/>
          </a:bodyPr>
          <a:lstStyle/>
          <a:p>
            <a:pPr algn="just">
              <a:lnSpc>
                <a:spcPts val="4236"/>
              </a:lnSpc>
            </a:pPr>
            <a:r>
              <a:rPr lang="en-US" sz="2715">
                <a:solidFill>
                  <a:srgbClr val="000000"/>
                </a:solidFill>
                <a:latin typeface="Times New Roman Bold"/>
                <a:ea typeface="Times New Roman Bold"/>
                <a:cs typeface="Times New Roman Bold"/>
                <a:sym typeface="Times New Roman Bold"/>
              </a:rPr>
              <a:t>Scaling and Imputing Null Values</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Modified version of KNN Imputation.</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Done in batches</a:t>
            </a:r>
          </a:p>
        </p:txBody>
      </p:sp>
      <p:grpSp>
        <p:nvGrpSpPr>
          <p:cNvPr name="Group 40" id="40"/>
          <p:cNvGrpSpPr/>
          <p:nvPr/>
        </p:nvGrpSpPr>
        <p:grpSpPr>
          <a:xfrm rot="0">
            <a:off x="13919267" y="4861144"/>
            <a:ext cx="3957577" cy="3398518"/>
            <a:chOff x="0" y="0"/>
            <a:chExt cx="1498282" cy="1286630"/>
          </a:xfrm>
        </p:grpSpPr>
        <p:sp>
          <p:nvSpPr>
            <p:cNvPr name="Freeform 41" id="41"/>
            <p:cNvSpPr/>
            <p:nvPr/>
          </p:nvSpPr>
          <p:spPr>
            <a:xfrm flipH="false" flipV="false" rot="0">
              <a:off x="0" y="0"/>
              <a:ext cx="1498282" cy="1286630"/>
            </a:xfrm>
            <a:custGeom>
              <a:avLst/>
              <a:gdLst/>
              <a:ahLst/>
              <a:cxnLst/>
              <a:rect r="r" b="b" t="t" l="l"/>
              <a:pathLst>
                <a:path h="1286630" w="1498282">
                  <a:moveTo>
                    <a:pt x="29343" y="0"/>
                  </a:moveTo>
                  <a:lnTo>
                    <a:pt x="1468939" y="0"/>
                  </a:lnTo>
                  <a:cubicBezTo>
                    <a:pt x="1476721" y="0"/>
                    <a:pt x="1484185" y="3092"/>
                    <a:pt x="1489688" y="8594"/>
                  </a:cubicBezTo>
                  <a:cubicBezTo>
                    <a:pt x="1495190" y="14097"/>
                    <a:pt x="1498282" y="21561"/>
                    <a:pt x="1498282" y="29343"/>
                  </a:cubicBezTo>
                  <a:lnTo>
                    <a:pt x="1498282" y="1257287"/>
                  </a:lnTo>
                  <a:cubicBezTo>
                    <a:pt x="1498282" y="1273493"/>
                    <a:pt x="1485145" y="1286630"/>
                    <a:pt x="1468939" y="1286630"/>
                  </a:cubicBezTo>
                  <a:lnTo>
                    <a:pt x="29343" y="1286630"/>
                  </a:lnTo>
                  <a:cubicBezTo>
                    <a:pt x="13137" y="1286630"/>
                    <a:pt x="0" y="1273493"/>
                    <a:pt x="0" y="1257287"/>
                  </a:cubicBezTo>
                  <a:lnTo>
                    <a:pt x="0" y="29343"/>
                  </a:lnTo>
                  <a:cubicBezTo>
                    <a:pt x="0" y="13137"/>
                    <a:pt x="13137" y="0"/>
                    <a:pt x="29343" y="0"/>
                  </a:cubicBezTo>
                  <a:close/>
                </a:path>
              </a:pathLst>
            </a:custGeom>
            <a:solidFill>
              <a:srgbClr val="8AB7E2"/>
            </a:solidFill>
            <a:ln w="9525" cap="sq">
              <a:solidFill>
                <a:srgbClr val="000000"/>
              </a:solidFill>
              <a:prstDash val="solid"/>
              <a:miter/>
            </a:ln>
          </p:spPr>
        </p:sp>
        <p:sp>
          <p:nvSpPr>
            <p:cNvPr name="TextBox 42" id="42"/>
            <p:cNvSpPr txBox="true"/>
            <p:nvPr/>
          </p:nvSpPr>
          <p:spPr>
            <a:xfrm>
              <a:off x="0" y="-38100"/>
              <a:ext cx="1498282" cy="132473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3" id="43"/>
          <p:cNvSpPr txBox="true"/>
          <p:nvPr/>
        </p:nvSpPr>
        <p:spPr>
          <a:xfrm rot="0">
            <a:off x="14016471" y="4879218"/>
            <a:ext cx="3601660" cy="3243203"/>
          </a:xfrm>
          <a:prstGeom prst="rect">
            <a:avLst/>
          </a:prstGeom>
        </p:spPr>
        <p:txBody>
          <a:bodyPr anchor="t" rtlCol="false" tIns="0" lIns="0" bIns="0" rIns="0">
            <a:spAutoFit/>
          </a:bodyPr>
          <a:lstStyle/>
          <a:p>
            <a:pPr algn="just">
              <a:lnSpc>
                <a:spcPts val="4236"/>
              </a:lnSpc>
            </a:pPr>
            <a:r>
              <a:rPr lang="en-US" sz="2715">
                <a:solidFill>
                  <a:srgbClr val="000000"/>
                </a:solidFill>
                <a:latin typeface="Times New Roman Bold"/>
                <a:ea typeface="Times New Roman Bold"/>
                <a:cs typeface="Times New Roman Bold"/>
                <a:sym typeface="Times New Roman Bold"/>
              </a:rPr>
              <a:t>Aggregating Past Data</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Aggregate data based on unique loan ID using ‘groupby’ functionality in Python.</a:t>
            </a:r>
          </a:p>
          <a:p>
            <a:pPr algn="just" marL="488596" indent="-244298" lvl="1">
              <a:lnSpc>
                <a:spcPts val="3530"/>
              </a:lnSpc>
              <a:buFont typeface="Arial"/>
              <a:buChar char="•"/>
            </a:pPr>
            <a:r>
              <a:rPr lang="en-US" sz="2263">
                <a:solidFill>
                  <a:srgbClr val="000000"/>
                </a:solidFill>
                <a:latin typeface="Times New Roman"/>
                <a:ea typeface="Times New Roman"/>
                <a:cs typeface="Times New Roman"/>
                <a:sym typeface="Times New Roman"/>
              </a:rPr>
              <a:t>Perform same analysis on newly created features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939540" y="-19354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819026" y="1935493"/>
            <a:ext cx="5797587" cy="4308751"/>
          </a:xfrm>
          <a:custGeom>
            <a:avLst/>
            <a:gdLst/>
            <a:ahLst/>
            <a:cxnLst/>
            <a:rect r="r" b="b" t="t" l="l"/>
            <a:pathLst>
              <a:path h="4308751" w="5797587">
                <a:moveTo>
                  <a:pt x="0" y="0"/>
                </a:moveTo>
                <a:lnTo>
                  <a:pt x="5797587" y="0"/>
                </a:lnTo>
                <a:lnTo>
                  <a:pt x="5797587" y="4308751"/>
                </a:lnTo>
                <a:lnTo>
                  <a:pt x="0" y="4308751"/>
                </a:lnTo>
                <a:lnTo>
                  <a:pt x="0" y="0"/>
                </a:lnTo>
                <a:close/>
              </a:path>
            </a:pathLst>
          </a:custGeom>
          <a:blipFill>
            <a:blip r:embed="rId4"/>
            <a:stretch>
              <a:fillRect l="0" t="0" r="0" b="0"/>
            </a:stretch>
          </a:blipFill>
        </p:spPr>
      </p:sp>
      <p:grpSp>
        <p:nvGrpSpPr>
          <p:cNvPr name="Group 4" id="4"/>
          <p:cNvGrpSpPr/>
          <p:nvPr/>
        </p:nvGrpSpPr>
        <p:grpSpPr>
          <a:xfrm rot="0">
            <a:off x="7325062" y="2158013"/>
            <a:ext cx="7812694" cy="2985487"/>
            <a:chOff x="0" y="0"/>
            <a:chExt cx="2957774" cy="1130263"/>
          </a:xfrm>
        </p:grpSpPr>
        <p:sp>
          <p:nvSpPr>
            <p:cNvPr name="Freeform 5" id="5"/>
            <p:cNvSpPr/>
            <p:nvPr/>
          </p:nvSpPr>
          <p:spPr>
            <a:xfrm flipH="false" flipV="false" rot="0">
              <a:off x="0" y="0"/>
              <a:ext cx="2957774" cy="1130263"/>
            </a:xfrm>
            <a:custGeom>
              <a:avLst/>
              <a:gdLst/>
              <a:ahLst/>
              <a:cxnLst/>
              <a:rect r="r" b="b" t="t" l="l"/>
              <a:pathLst>
                <a:path h="1130263" w="2957774">
                  <a:moveTo>
                    <a:pt x="14864" y="0"/>
                  </a:moveTo>
                  <a:lnTo>
                    <a:pt x="2942910" y="0"/>
                  </a:lnTo>
                  <a:cubicBezTo>
                    <a:pt x="2946852" y="0"/>
                    <a:pt x="2950633" y="1566"/>
                    <a:pt x="2953421" y="4354"/>
                  </a:cubicBezTo>
                  <a:cubicBezTo>
                    <a:pt x="2956208" y="7141"/>
                    <a:pt x="2957774" y="10922"/>
                    <a:pt x="2957774" y="14864"/>
                  </a:cubicBezTo>
                  <a:lnTo>
                    <a:pt x="2957774" y="1115399"/>
                  </a:lnTo>
                  <a:cubicBezTo>
                    <a:pt x="2957774" y="1119341"/>
                    <a:pt x="2956208" y="1123122"/>
                    <a:pt x="2953421" y="1125909"/>
                  </a:cubicBezTo>
                  <a:cubicBezTo>
                    <a:pt x="2950633" y="1128697"/>
                    <a:pt x="2946852" y="1130263"/>
                    <a:pt x="2942910" y="1130263"/>
                  </a:cubicBezTo>
                  <a:lnTo>
                    <a:pt x="14864" y="1130263"/>
                  </a:lnTo>
                  <a:cubicBezTo>
                    <a:pt x="10922" y="1130263"/>
                    <a:pt x="7141" y="1128697"/>
                    <a:pt x="4354" y="1125909"/>
                  </a:cubicBezTo>
                  <a:cubicBezTo>
                    <a:pt x="1566" y="1123122"/>
                    <a:pt x="0" y="1119341"/>
                    <a:pt x="0" y="1115399"/>
                  </a:cubicBezTo>
                  <a:lnTo>
                    <a:pt x="0" y="14864"/>
                  </a:lnTo>
                  <a:cubicBezTo>
                    <a:pt x="0" y="10922"/>
                    <a:pt x="1566" y="7141"/>
                    <a:pt x="4354" y="4354"/>
                  </a:cubicBezTo>
                  <a:cubicBezTo>
                    <a:pt x="7141" y="1566"/>
                    <a:pt x="10922" y="0"/>
                    <a:pt x="14864" y="0"/>
                  </a:cubicBezTo>
                  <a:close/>
                </a:path>
              </a:pathLst>
            </a:custGeom>
            <a:solidFill>
              <a:srgbClr val="8AB7E2"/>
            </a:solidFill>
            <a:ln w="9525" cap="sq">
              <a:solidFill>
                <a:srgbClr val="000000"/>
              </a:solidFill>
              <a:prstDash val="solid"/>
              <a:miter/>
            </a:ln>
          </p:spPr>
        </p:sp>
        <p:sp>
          <p:nvSpPr>
            <p:cNvPr name="TextBox 6" id="6"/>
            <p:cNvSpPr txBox="true"/>
            <p:nvPr/>
          </p:nvSpPr>
          <p:spPr>
            <a:xfrm>
              <a:off x="0" y="-38100"/>
              <a:ext cx="2957774" cy="116836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7" id="7"/>
          <p:cNvSpPr/>
          <p:nvPr/>
        </p:nvSpPr>
        <p:spPr>
          <a:xfrm flipH="false" flipV="false" rot="0">
            <a:off x="11659846" y="5534025"/>
            <a:ext cx="5599454" cy="4521114"/>
          </a:xfrm>
          <a:custGeom>
            <a:avLst/>
            <a:gdLst/>
            <a:ahLst/>
            <a:cxnLst/>
            <a:rect r="r" b="b" t="t" l="l"/>
            <a:pathLst>
              <a:path h="4521114" w="5599454">
                <a:moveTo>
                  <a:pt x="0" y="0"/>
                </a:moveTo>
                <a:lnTo>
                  <a:pt x="5599454" y="0"/>
                </a:lnTo>
                <a:lnTo>
                  <a:pt x="5599454" y="4521114"/>
                </a:lnTo>
                <a:lnTo>
                  <a:pt x="0" y="4521114"/>
                </a:lnTo>
                <a:lnTo>
                  <a:pt x="0" y="0"/>
                </a:lnTo>
                <a:close/>
              </a:path>
            </a:pathLst>
          </a:custGeom>
          <a:blipFill>
            <a:blip r:embed="rId5"/>
            <a:stretch>
              <a:fillRect l="0" t="0" r="0" b="0"/>
            </a:stretch>
          </a:blipFill>
        </p:spPr>
      </p:sp>
      <p:sp>
        <p:nvSpPr>
          <p:cNvPr name="TextBox 8" id="8"/>
          <p:cNvSpPr txBox="true"/>
          <p:nvPr/>
        </p:nvSpPr>
        <p:spPr>
          <a:xfrm rot="0">
            <a:off x="4708454" y="365291"/>
            <a:ext cx="8871092" cy="1179677"/>
          </a:xfrm>
          <a:prstGeom prst="rect">
            <a:avLst/>
          </a:prstGeom>
        </p:spPr>
        <p:txBody>
          <a:bodyPr anchor="t" rtlCol="false" tIns="0" lIns="0" bIns="0" rIns="0">
            <a:spAutoFit/>
          </a:bodyPr>
          <a:lstStyle/>
          <a:p>
            <a:pPr algn="ctr">
              <a:lnSpc>
                <a:spcPts val="7544"/>
              </a:lnSpc>
            </a:pPr>
            <a:r>
              <a:rPr lang="en-US" sz="8025">
                <a:solidFill>
                  <a:srgbClr val="000000"/>
                </a:solidFill>
                <a:latin typeface="Times New Roman Bold"/>
                <a:ea typeface="Times New Roman Bold"/>
                <a:cs typeface="Times New Roman Bold"/>
                <a:sym typeface="Times New Roman Bold"/>
              </a:rPr>
              <a:t>Results and Findings</a:t>
            </a:r>
          </a:p>
        </p:txBody>
      </p:sp>
      <p:sp>
        <p:nvSpPr>
          <p:cNvPr name="TextBox 9" id="9"/>
          <p:cNvSpPr txBox="true"/>
          <p:nvPr/>
        </p:nvSpPr>
        <p:spPr>
          <a:xfrm rot="0">
            <a:off x="7422267" y="2204662"/>
            <a:ext cx="7476198" cy="2704760"/>
          </a:xfrm>
          <a:prstGeom prst="rect">
            <a:avLst/>
          </a:prstGeom>
        </p:spPr>
        <p:txBody>
          <a:bodyPr anchor="t" rtlCol="false" tIns="0" lIns="0" bIns="0" rIns="0">
            <a:spAutoFit/>
          </a:bodyPr>
          <a:lstStyle/>
          <a:p>
            <a:pPr algn="just">
              <a:lnSpc>
                <a:spcPts val="3586"/>
              </a:lnSpc>
            </a:pPr>
            <a:r>
              <a:rPr lang="en-US" sz="2299">
                <a:solidFill>
                  <a:srgbClr val="000000"/>
                </a:solidFill>
                <a:latin typeface="Times New Roman"/>
                <a:ea typeface="Times New Roman"/>
                <a:cs typeface="Times New Roman"/>
                <a:sym typeface="Times New Roman"/>
              </a:rPr>
              <a:t>‘YEARS_BIRTH’ represents the age of the customer. </a:t>
            </a:r>
          </a:p>
          <a:p>
            <a:pPr algn="just" marL="496375" indent="-248187" lvl="1">
              <a:lnSpc>
                <a:spcPts val="3586"/>
              </a:lnSpc>
              <a:buFont typeface="Arial"/>
              <a:buChar char="•"/>
            </a:pPr>
            <a:r>
              <a:rPr lang="en-US" sz="2299">
                <a:solidFill>
                  <a:srgbClr val="000000"/>
                </a:solidFill>
                <a:latin typeface="Times New Roman"/>
                <a:ea typeface="Times New Roman"/>
                <a:cs typeface="Times New Roman"/>
                <a:sym typeface="Times New Roman"/>
              </a:rPr>
              <a:t>It can be clearly seen that the density of defaulters is much higher for younger customer having age below 35 years.</a:t>
            </a:r>
          </a:p>
          <a:p>
            <a:pPr algn="just" marL="496375" indent="-248187" lvl="1">
              <a:lnSpc>
                <a:spcPts val="3586"/>
              </a:lnSpc>
              <a:buFont typeface="Arial"/>
              <a:buChar char="•"/>
            </a:pPr>
            <a:r>
              <a:rPr lang="en-US" sz="2299">
                <a:solidFill>
                  <a:srgbClr val="000000"/>
                </a:solidFill>
                <a:latin typeface="Times New Roman"/>
                <a:ea typeface="Times New Roman"/>
                <a:cs typeface="Times New Roman"/>
                <a:sym typeface="Times New Roman"/>
              </a:rPr>
              <a:t>As the age increases, the density of defaulters falls sharply.</a:t>
            </a:r>
          </a:p>
        </p:txBody>
      </p:sp>
      <p:grpSp>
        <p:nvGrpSpPr>
          <p:cNvPr name="Group 10" id="10"/>
          <p:cNvGrpSpPr/>
          <p:nvPr/>
        </p:nvGrpSpPr>
        <p:grpSpPr>
          <a:xfrm rot="0">
            <a:off x="3110378" y="6987194"/>
            <a:ext cx="7831706" cy="2830747"/>
            <a:chOff x="0" y="0"/>
            <a:chExt cx="2964972" cy="1071680"/>
          </a:xfrm>
        </p:grpSpPr>
        <p:sp>
          <p:nvSpPr>
            <p:cNvPr name="Freeform 11" id="11"/>
            <p:cNvSpPr/>
            <p:nvPr/>
          </p:nvSpPr>
          <p:spPr>
            <a:xfrm flipH="false" flipV="false" rot="0">
              <a:off x="0" y="0"/>
              <a:ext cx="2964972" cy="1071680"/>
            </a:xfrm>
            <a:custGeom>
              <a:avLst/>
              <a:gdLst/>
              <a:ahLst/>
              <a:cxnLst/>
              <a:rect r="r" b="b" t="t" l="l"/>
              <a:pathLst>
                <a:path h="1071680" w="2964972">
                  <a:moveTo>
                    <a:pt x="14828" y="0"/>
                  </a:moveTo>
                  <a:lnTo>
                    <a:pt x="2950144" y="0"/>
                  </a:lnTo>
                  <a:cubicBezTo>
                    <a:pt x="2954076" y="0"/>
                    <a:pt x="2957848" y="1562"/>
                    <a:pt x="2960629" y="4343"/>
                  </a:cubicBezTo>
                  <a:cubicBezTo>
                    <a:pt x="2963409" y="7124"/>
                    <a:pt x="2964972" y="10895"/>
                    <a:pt x="2964972" y="14828"/>
                  </a:cubicBezTo>
                  <a:lnTo>
                    <a:pt x="2964972" y="1056852"/>
                  </a:lnTo>
                  <a:cubicBezTo>
                    <a:pt x="2964972" y="1065042"/>
                    <a:pt x="2958333" y="1071680"/>
                    <a:pt x="2950144" y="1071680"/>
                  </a:cubicBezTo>
                  <a:lnTo>
                    <a:pt x="14828" y="1071680"/>
                  </a:lnTo>
                  <a:cubicBezTo>
                    <a:pt x="10895" y="1071680"/>
                    <a:pt x="7124" y="1070118"/>
                    <a:pt x="4343" y="1067337"/>
                  </a:cubicBezTo>
                  <a:cubicBezTo>
                    <a:pt x="1562" y="1064557"/>
                    <a:pt x="0" y="1060785"/>
                    <a:pt x="0" y="1056852"/>
                  </a:cubicBezTo>
                  <a:lnTo>
                    <a:pt x="0" y="14828"/>
                  </a:lnTo>
                  <a:cubicBezTo>
                    <a:pt x="0" y="10895"/>
                    <a:pt x="1562" y="7124"/>
                    <a:pt x="4343" y="4343"/>
                  </a:cubicBezTo>
                  <a:cubicBezTo>
                    <a:pt x="7124" y="1562"/>
                    <a:pt x="10895" y="0"/>
                    <a:pt x="14828" y="0"/>
                  </a:cubicBezTo>
                  <a:close/>
                </a:path>
              </a:pathLst>
            </a:custGeom>
            <a:solidFill>
              <a:srgbClr val="8AB7E2"/>
            </a:solidFill>
            <a:ln w="9525" cap="sq">
              <a:solidFill>
                <a:srgbClr val="000000"/>
              </a:solidFill>
              <a:prstDash val="solid"/>
              <a:miter/>
            </a:ln>
          </p:spPr>
        </p:sp>
        <p:sp>
          <p:nvSpPr>
            <p:cNvPr name="TextBox 12" id="12"/>
            <p:cNvSpPr txBox="true"/>
            <p:nvPr/>
          </p:nvSpPr>
          <p:spPr>
            <a:xfrm>
              <a:off x="0" y="-38100"/>
              <a:ext cx="2964972" cy="110978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454730" y="7033843"/>
            <a:ext cx="7229050" cy="2704760"/>
          </a:xfrm>
          <a:prstGeom prst="rect">
            <a:avLst/>
          </a:prstGeom>
        </p:spPr>
        <p:txBody>
          <a:bodyPr anchor="t" rtlCol="false" tIns="0" lIns="0" bIns="0" rIns="0">
            <a:spAutoFit/>
          </a:bodyPr>
          <a:lstStyle/>
          <a:p>
            <a:pPr algn="just">
              <a:lnSpc>
                <a:spcPts val="3586"/>
              </a:lnSpc>
            </a:pPr>
            <a:r>
              <a:rPr lang="en-US" sz="2299">
                <a:solidFill>
                  <a:srgbClr val="000000"/>
                </a:solidFill>
                <a:latin typeface="Times New Roman"/>
                <a:ea typeface="Times New Roman"/>
                <a:cs typeface="Times New Roman"/>
                <a:sym typeface="Times New Roman"/>
              </a:rPr>
              <a:t>‘EXT_SOURCE_1’ represents the credit score  of the customer according to some external source. </a:t>
            </a:r>
          </a:p>
          <a:p>
            <a:pPr algn="just" marL="496375" indent="-248187" lvl="1">
              <a:lnSpc>
                <a:spcPts val="3586"/>
              </a:lnSpc>
              <a:buFont typeface="Arial"/>
              <a:buChar char="•"/>
            </a:pPr>
            <a:r>
              <a:rPr lang="en-US" sz="2299">
                <a:solidFill>
                  <a:srgbClr val="000000"/>
                </a:solidFill>
                <a:latin typeface="Times New Roman"/>
                <a:ea typeface="Times New Roman"/>
                <a:cs typeface="Times New Roman"/>
                <a:sym typeface="Times New Roman"/>
              </a:rPr>
              <a:t>The highest percentage of defaulters are among those who have a credit score less than 0.3.</a:t>
            </a:r>
          </a:p>
          <a:p>
            <a:pPr algn="just" marL="496375" indent="-248187" lvl="1">
              <a:lnSpc>
                <a:spcPts val="3586"/>
              </a:lnSpc>
              <a:buFont typeface="Arial"/>
              <a:buChar char="•"/>
            </a:pPr>
            <a:r>
              <a:rPr lang="en-US" sz="2299">
                <a:solidFill>
                  <a:srgbClr val="000000"/>
                </a:solidFill>
                <a:latin typeface="Times New Roman"/>
                <a:ea typeface="Times New Roman"/>
                <a:cs typeface="Times New Roman"/>
                <a:sym typeface="Times New Roman"/>
              </a:rPr>
              <a:t>Consistent decreasing trend between the feature and defaulter percentage.</a:t>
            </a:r>
          </a:p>
        </p:txBody>
      </p:sp>
      <p:sp>
        <p:nvSpPr>
          <p:cNvPr name="Freeform 14" id="14"/>
          <p:cNvSpPr/>
          <p:nvPr/>
        </p:nvSpPr>
        <p:spPr>
          <a:xfrm flipH="false" flipV="false" rot="0">
            <a:off x="16091940" y="-17830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5" id="15"/>
          <p:cNvSpPr/>
          <p:nvPr/>
        </p:nvSpPr>
        <p:spPr>
          <a:xfrm flipH="false" flipV="false" rot="0">
            <a:off x="-1674195" y="8844579"/>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939540" y="-19354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673493" y="1511626"/>
            <a:ext cx="6786080" cy="2643283"/>
            <a:chOff x="0" y="0"/>
            <a:chExt cx="2569113" cy="1000709"/>
          </a:xfrm>
        </p:grpSpPr>
        <p:sp>
          <p:nvSpPr>
            <p:cNvPr name="Freeform 4" id="4"/>
            <p:cNvSpPr/>
            <p:nvPr/>
          </p:nvSpPr>
          <p:spPr>
            <a:xfrm flipH="false" flipV="false" rot="0">
              <a:off x="0" y="0"/>
              <a:ext cx="2569113" cy="1000709"/>
            </a:xfrm>
            <a:custGeom>
              <a:avLst/>
              <a:gdLst/>
              <a:ahLst/>
              <a:cxnLst/>
              <a:rect r="r" b="b" t="t" l="l"/>
              <a:pathLst>
                <a:path h="1000709" w="2569113">
                  <a:moveTo>
                    <a:pt x="17113" y="0"/>
                  </a:moveTo>
                  <a:lnTo>
                    <a:pt x="2552000" y="0"/>
                  </a:lnTo>
                  <a:cubicBezTo>
                    <a:pt x="2561451" y="0"/>
                    <a:pt x="2569113" y="7662"/>
                    <a:pt x="2569113" y="17113"/>
                  </a:cubicBezTo>
                  <a:lnTo>
                    <a:pt x="2569113" y="983596"/>
                  </a:lnTo>
                  <a:cubicBezTo>
                    <a:pt x="2569113" y="993047"/>
                    <a:pt x="2561451" y="1000709"/>
                    <a:pt x="2552000" y="1000709"/>
                  </a:cubicBezTo>
                  <a:lnTo>
                    <a:pt x="17113" y="1000709"/>
                  </a:lnTo>
                  <a:cubicBezTo>
                    <a:pt x="7662" y="1000709"/>
                    <a:pt x="0" y="993047"/>
                    <a:pt x="0" y="983596"/>
                  </a:cubicBezTo>
                  <a:lnTo>
                    <a:pt x="0" y="17113"/>
                  </a:lnTo>
                  <a:cubicBezTo>
                    <a:pt x="0" y="7662"/>
                    <a:pt x="7662" y="0"/>
                    <a:pt x="17113" y="0"/>
                  </a:cubicBezTo>
                  <a:close/>
                </a:path>
              </a:pathLst>
            </a:custGeom>
            <a:solidFill>
              <a:srgbClr val="8AB7E2"/>
            </a:solidFill>
            <a:ln w="9525" cap="sq">
              <a:solidFill>
                <a:srgbClr val="000000"/>
              </a:solidFill>
              <a:prstDash val="solid"/>
              <a:miter/>
            </a:ln>
          </p:spPr>
        </p:sp>
        <p:sp>
          <p:nvSpPr>
            <p:cNvPr name="TextBox 5" id="5"/>
            <p:cNvSpPr txBox="true"/>
            <p:nvPr/>
          </p:nvSpPr>
          <p:spPr>
            <a:xfrm>
              <a:off x="0" y="-38100"/>
              <a:ext cx="2569113" cy="10388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554657" y="6721288"/>
            <a:ext cx="6786080" cy="3070307"/>
            <a:chOff x="0" y="0"/>
            <a:chExt cx="2569113" cy="1162374"/>
          </a:xfrm>
        </p:grpSpPr>
        <p:sp>
          <p:nvSpPr>
            <p:cNvPr name="Freeform 7" id="7"/>
            <p:cNvSpPr/>
            <p:nvPr/>
          </p:nvSpPr>
          <p:spPr>
            <a:xfrm flipH="false" flipV="false" rot="0">
              <a:off x="0" y="0"/>
              <a:ext cx="2569113" cy="1162374"/>
            </a:xfrm>
            <a:custGeom>
              <a:avLst/>
              <a:gdLst/>
              <a:ahLst/>
              <a:cxnLst/>
              <a:rect r="r" b="b" t="t" l="l"/>
              <a:pathLst>
                <a:path h="1162374" w="2569113">
                  <a:moveTo>
                    <a:pt x="17113" y="0"/>
                  </a:moveTo>
                  <a:lnTo>
                    <a:pt x="2552000" y="0"/>
                  </a:lnTo>
                  <a:cubicBezTo>
                    <a:pt x="2561451" y="0"/>
                    <a:pt x="2569113" y="7662"/>
                    <a:pt x="2569113" y="17113"/>
                  </a:cubicBezTo>
                  <a:lnTo>
                    <a:pt x="2569113" y="1145261"/>
                  </a:lnTo>
                  <a:cubicBezTo>
                    <a:pt x="2569113" y="1154712"/>
                    <a:pt x="2561451" y="1162374"/>
                    <a:pt x="2552000" y="1162374"/>
                  </a:cubicBezTo>
                  <a:lnTo>
                    <a:pt x="17113" y="1162374"/>
                  </a:lnTo>
                  <a:cubicBezTo>
                    <a:pt x="7662" y="1162374"/>
                    <a:pt x="0" y="1154712"/>
                    <a:pt x="0" y="1145261"/>
                  </a:cubicBezTo>
                  <a:lnTo>
                    <a:pt x="0" y="17113"/>
                  </a:lnTo>
                  <a:cubicBezTo>
                    <a:pt x="0" y="7662"/>
                    <a:pt x="7662" y="0"/>
                    <a:pt x="17113" y="0"/>
                  </a:cubicBezTo>
                  <a:close/>
                </a:path>
              </a:pathLst>
            </a:custGeom>
            <a:solidFill>
              <a:srgbClr val="8AB7E2"/>
            </a:solidFill>
            <a:ln w="9525" cap="sq">
              <a:solidFill>
                <a:srgbClr val="000000"/>
              </a:solidFill>
              <a:prstDash val="solid"/>
              <a:miter/>
            </a:ln>
          </p:spPr>
        </p:sp>
        <p:sp>
          <p:nvSpPr>
            <p:cNvPr name="TextBox 8" id="8"/>
            <p:cNvSpPr txBox="true"/>
            <p:nvPr/>
          </p:nvSpPr>
          <p:spPr>
            <a:xfrm>
              <a:off x="0" y="-38100"/>
              <a:ext cx="2569113" cy="12004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554657" y="456273"/>
            <a:ext cx="6356016" cy="5343911"/>
          </a:xfrm>
          <a:custGeom>
            <a:avLst/>
            <a:gdLst/>
            <a:ahLst/>
            <a:cxnLst/>
            <a:rect r="r" b="b" t="t" l="l"/>
            <a:pathLst>
              <a:path h="5343911" w="6356016">
                <a:moveTo>
                  <a:pt x="0" y="0"/>
                </a:moveTo>
                <a:lnTo>
                  <a:pt x="6356016" y="0"/>
                </a:lnTo>
                <a:lnTo>
                  <a:pt x="6356016" y="5343911"/>
                </a:lnTo>
                <a:lnTo>
                  <a:pt x="0" y="5343911"/>
                </a:lnTo>
                <a:lnTo>
                  <a:pt x="0" y="0"/>
                </a:lnTo>
                <a:close/>
              </a:path>
            </a:pathLst>
          </a:custGeom>
          <a:blipFill>
            <a:blip r:embed="rId4"/>
            <a:stretch>
              <a:fillRect l="0" t="0" r="0" b="0"/>
            </a:stretch>
          </a:blipFill>
        </p:spPr>
      </p:sp>
      <p:sp>
        <p:nvSpPr>
          <p:cNvPr name="Freeform 10" id="10"/>
          <p:cNvSpPr/>
          <p:nvPr/>
        </p:nvSpPr>
        <p:spPr>
          <a:xfrm flipH="false" flipV="false" rot="0">
            <a:off x="12808213" y="6114288"/>
            <a:ext cx="5162484" cy="3896382"/>
          </a:xfrm>
          <a:custGeom>
            <a:avLst/>
            <a:gdLst/>
            <a:ahLst/>
            <a:cxnLst/>
            <a:rect r="r" b="b" t="t" l="l"/>
            <a:pathLst>
              <a:path h="3896382" w="5162484">
                <a:moveTo>
                  <a:pt x="0" y="0"/>
                </a:moveTo>
                <a:lnTo>
                  <a:pt x="5162484" y="0"/>
                </a:lnTo>
                <a:lnTo>
                  <a:pt x="5162484" y="3896382"/>
                </a:lnTo>
                <a:lnTo>
                  <a:pt x="0" y="3896382"/>
                </a:lnTo>
                <a:lnTo>
                  <a:pt x="0" y="0"/>
                </a:lnTo>
                <a:close/>
              </a:path>
            </a:pathLst>
          </a:custGeom>
          <a:blipFill>
            <a:blip r:embed="rId5"/>
            <a:stretch>
              <a:fillRect l="0" t="0" r="0" b="0"/>
            </a:stretch>
          </a:blipFill>
        </p:spPr>
      </p:sp>
      <p:sp>
        <p:nvSpPr>
          <p:cNvPr name="Freeform 11" id="11"/>
          <p:cNvSpPr/>
          <p:nvPr/>
        </p:nvSpPr>
        <p:spPr>
          <a:xfrm flipH="false" flipV="false" rot="0">
            <a:off x="7789295" y="6114288"/>
            <a:ext cx="4825716" cy="3896382"/>
          </a:xfrm>
          <a:custGeom>
            <a:avLst/>
            <a:gdLst/>
            <a:ahLst/>
            <a:cxnLst/>
            <a:rect r="r" b="b" t="t" l="l"/>
            <a:pathLst>
              <a:path h="3896382" w="4825716">
                <a:moveTo>
                  <a:pt x="0" y="0"/>
                </a:moveTo>
                <a:lnTo>
                  <a:pt x="4825716" y="0"/>
                </a:lnTo>
                <a:lnTo>
                  <a:pt x="4825716" y="3896382"/>
                </a:lnTo>
                <a:lnTo>
                  <a:pt x="0" y="3896382"/>
                </a:lnTo>
                <a:lnTo>
                  <a:pt x="0" y="0"/>
                </a:lnTo>
                <a:close/>
              </a:path>
            </a:pathLst>
          </a:custGeom>
          <a:blipFill>
            <a:blip r:embed="rId6"/>
            <a:stretch>
              <a:fillRect l="0" t="0" r="0" b="0"/>
            </a:stretch>
          </a:blipFill>
        </p:spPr>
      </p:sp>
      <p:sp>
        <p:nvSpPr>
          <p:cNvPr name="TextBox 12" id="12"/>
          <p:cNvSpPr txBox="true"/>
          <p:nvPr/>
        </p:nvSpPr>
        <p:spPr>
          <a:xfrm rot="0">
            <a:off x="7816925" y="1635416"/>
            <a:ext cx="6430572" cy="2357288"/>
          </a:xfrm>
          <a:prstGeom prst="rect">
            <a:avLst/>
          </a:prstGeom>
        </p:spPr>
        <p:txBody>
          <a:bodyPr anchor="t" rtlCol="false" tIns="0" lIns="0" bIns="0" rIns="0">
            <a:spAutoFit/>
          </a:bodyPr>
          <a:lstStyle/>
          <a:p>
            <a:pPr algn="just" marL="517964" indent="-258982" lvl="1">
              <a:lnSpc>
                <a:spcPts val="3742"/>
              </a:lnSpc>
              <a:buFont typeface="Arial"/>
              <a:buChar char="•"/>
            </a:pPr>
            <a:r>
              <a:rPr lang="en-US" sz="2399">
                <a:solidFill>
                  <a:srgbClr val="000000"/>
                </a:solidFill>
                <a:latin typeface="Times New Roman"/>
                <a:ea typeface="Times New Roman"/>
                <a:cs typeface="Times New Roman"/>
                <a:sym typeface="Times New Roman"/>
              </a:rPr>
              <a:t>The heatmap reveals that all the external source scores are weakly correlated and are individually important.</a:t>
            </a:r>
          </a:p>
          <a:p>
            <a:pPr algn="just" marL="517964" indent="-258982" lvl="1">
              <a:lnSpc>
                <a:spcPts val="3742"/>
              </a:lnSpc>
              <a:buFont typeface="Arial"/>
              <a:buChar char="•"/>
            </a:pPr>
            <a:r>
              <a:rPr lang="en-US" sz="2399">
                <a:solidFill>
                  <a:srgbClr val="000000"/>
                </a:solidFill>
                <a:latin typeface="Times New Roman"/>
                <a:ea typeface="Times New Roman"/>
                <a:cs typeface="Times New Roman"/>
                <a:sym typeface="Times New Roman"/>
              </a:rPr>
              <a:t>All external sources show a weak negative correlation with the ‘TARGET’ attribute.</a:t>
            </a:r>
          </a:p>
        </p:txBody>
      </p:sp>
      <p:sp>
        <p:nvSpPr>
          <p:cNvPr name="TextBox 13" id="13"/>
          <p:cNvSpPr txBox="true"/>
          <p:nvPr/>
        </p:nvSpPr>
        <p:spPr>
          <a:xfrm rot="0">
            <a:off x="651862" y="6767938"/>
            <a:ext cx="6506617" cy="3023657"/>
          </a:xfrm>
          <a:prstGeom prst="rect">
            <a:avLst/>
          </a:prstGeom>
        </p:spPr>
        <p:txBody>
          <a:bodyPr anchor="t" rtlCol="false" tIns="0" lIns="0" bIns="0" rIns="0">
            <a:spAutoFit/>
          </a:bodyPr>
          <a:lstStyle/>
          <a:p>
            <a:pPr algn="just">
              <a:lnSpc>
                <a:spcPts val="3430"/>
              </a:lnSpc>
            </a:pPr>
            <a:r>
              <a:rPr lang="en-US" sz="2199">
                <a:solidFill>
                  <a:srgbClr val="000000"/>
                </a:solidFill>
                <a:latin typeface="Times New Roman"/>
                <a:ea typeface="Times New Roman"/>
                <a:cs typeface="Times New Roman"/>
                <a:sym typeface="Times New Roman"/>
              </a:rPr>
              <a:t>‘YEARS_ID_PUBLISH’ is the number of years before the application, the customer changed their ID.</a:t>
            </a:r>
          </a:p>
          <a:p>
            <a:pPr algn="just" marL="474785" indent="-237393" lvl="1">
              <a:lnSpc>
                <a:spcPts val="3430"/>
              </a:lnSpc>
              <a:buFont typeface="Arial"/>
              <a:buChar char="•"/>
            </a:pPr>
            <a:r>
              <a:rPr lang="en-US" sz="2199">
                <a:solidFill>
                  <a:srgbClr val="000000"/>
                </a:solidFill>
                <a:latin typeface="Times New Roman"/>
                <a:ea typeface="Times New Roman"/>
                <a:cs typeface="Times New Roman"/>
                <a:sym typeface="Times New Roman"/>
              </a:rPr>
              <a:t>The highest percentage of defaulters are among those who have a changed their ID less than two years ago.</a:t>
            </a:r>
          </a:p>
          <a:p>
            <a:pPr algn="just" marL="474785" indent="-237393" lvl="1">
              <a:lnSpc>
                <a:spcPts val="3430"/>
              </a:lnSpc>
              <a:buFont typeface="Arial"/>
              <a:buChar char="•"/>
            </a:pPr>
            <a:r>
              <a:rPr lang="en-US" sz="2199">
                <a:solidFill>
                  <a:srgbClr val="000000"/>
                </a:solidFill>
                <a:latin typeface="Times New Roman"/>
                <a:ea typeface="Times New Roman"/>
                <a:cs typeface="Times New Roman"/>
                <a:sym typeface="Times New Roman"/>
              </a:rPr>
              <a:t>Consistent decreasing trend between the feature and defaulter percentage.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939540" y="-19354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7673493" y="1064839"/>
            <a:ext cx="8116877" cy="3517806"/>
            <a:chOff x="0" y="0"/>
            <a:chExt cx="3072933" cy="1331791"/>
          </a:xfrm>
        </p:grpSpPr>
        <p:sp>
          <p:nvSpPr>
            <p:cNvPr name="Freeform 4" id="4"/>
            <p:cNvSpPr/>
            <p:nvPr/>
          </p:nvSpPr>
          <p:spPr>
            <a:xfrm flipH="false" flipV="false" rot="0">
              <a:off x="0" y="0"/>
              <a:ext cx="3072933" cy="1331791"/>
            </a:xfrm>
            <a:custGeom>
              <a:avLst/>
              <a:gdLst/>
              <a:ahLst/>
              <a:cxnLst/>
              <a:rect r="r" b="b" t="t" l="l"/>
              <a:pathLst>
                <a:path h="1331791" w="3072933">
                  <a:moveTo>
                    <a:pt x="14307" y="0"/>
                  </a:moveTo>
                  <a:lnTo>
                    <a:pt x="3058626" y="0"/>
                  </a:lnTo>
                  <a:cubicBezTo>
                    <a:pt x="3062421" y="0"/>
                    <a:pt x="3066060" y="1507"/>
                    <a:pt x="3068743" y="4190"/>
                  </a:cubicBezTo>
                  <a:cubicBezTo>
                    <a:pt x="3071426" y="6874"/>
                    <a:pt x="3072933" y="10513"/>
                    <a:pt x="3072933" y="14307"/>
                  </a:cubicBezTo>
                  <a:lnTo>
                    <a:pt x="3072933" y="1317484"/>
                  </a:lnTo>
                  <a:cubicBezTo>
                    <a:pt x="3072933" y="1325385"/>
                    <a:pt x="3066528" y="1331791"/>
                    <a:pt x="3058626" y="1331791"/>
                  </a:cubicBezTo>
                  <a:lnTo>
                    <a:pt x="14307" y="1331791"/>
                  </a:lnTo>
                  <a:cubicBezTo>
                    <a:pt x="10513" y="1331791"/>
                    <a:pt x="6874" y="1330284"/>
                    <a:pt x="4190" y="1327601"/>
                  </a:cubicBezTo>
                  <a:cubicBezTo>
                    <a:pt x="1507" y="1324917"/>
                    <a:pt x="0" y="1321278"/>
                    <a:pt x="0" y="1317484"/>
                  </a:cubicBezTo>
                  <a:lnTo>
                    <a:pt x="0" y="14307"/>
                  </a:lnTo>
                  <a:cubicBezTo>
                    <a:pt x="0" y="10513"/>
                    <a:pt x="1507" y="6874"/>
                    <a:pt x="4190" y="4190"/>
                  </a:cubicBezTo>
                  <a:cubicBezTo>
                    <a:pt x="6874" y="1507"/>
                    <a:pt x="10513" y="0"/>
                    <a:pt x="14307" y="0"/>
                  </a:cubicBezTo>
                  <a:close/>
                </a:path>
              </a:pathLst>
            </a:custGeom>
            <a:solidFill>
              <a:srgbClr val="8AB7E2"/>
            </a:solidFill>
            <a:ln w="9525" cap="sq">
              <a:solidFill>
                <a:srgbClr val="000000"/>
              </a:solidFill>
              <a:prstDash val="solid"/>
              <a:miter/>
            </a:ln>
          </p:spPr>
        </p:sp>
        <p:sp>
          <p:nvSpPr>
            <p:cNvPr name="TextBox 5" id="5"/>
            <p:cNvSpPr txBox="true"/>
            <p:nvPr/>
          </p:nvSpPr>
          <p:spPr>
            <a:xfrm>
              <a:off x="0" y="-38100"/>
              <a:ext cx="3072933" cy="136989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323411" y="6187993"/>
            <a:ext cx="6786080" cy="3184375"/>
            <a:chOff x="0" y="0"/>
            <a:chExt cx="2569113" cy="1205559"/>
          </a:xfrm>
        </p:grpSpPr>
        <p:sp>
          <p:nvSpPr>
            <p:cNvPr name="Freeform 7" id="7"/>
            <p:cNvSpPr/>
            <p:nvPr/>
          </p:nvSpPr>
          <p:spPr>
            <a:xfrm flipH="false" flipV="false" rot="0">
              <a:off x="0" y="0"/>
              <a:ext cx="2569113" cy="1205559"/>
            </a:xfrm>
            <a:custGeom>
              <a:avLst/>
              <a:gdLst/>
              <a:ahLst/>
              <a:cxnLst/>
              <a:rect r="r" b="b" t="t" l="l"/>
              <a:pathLst>
                <a:path h="1205559" w="2569113">
                  <a:moveTo>
                    <a:pt x="17113" y="0"/>
                  </a:moveTo>
                  <a:lnTo>
                    <a:pt x="2552000" y="0"/>
                  </a:lnTo>
                  <a:cubicBezTo>
                    <a:pt x="2561451" y="0"/>
                    <a:pt x="2569113" y="7662"/>
                    <a:pt x="2569113" y="17113"/>
                  </a:cubicBezTo>
                  <a:lnTo>
                    <a:pt x="2569113" y="1188446"/>
                  </a:lnTo>
                  <a:cubicBezTo>
                    <a:pt x="2569113" y="1197897"/>
                    <a:pt x="2561451" y="1205559"/>
                    <a:pt x="2552000" y="1205559"/>
                  </a:cubicBezTo>
                  <a:lnTo>
                    <a:pt x="17113" y="1205559"/>
                  </a:lnTo>
                  <a:cubicBezTo>
                    <a:pt x="7662" y="1205559"/>
                    <a:pt x="0" y="1197897"/>
                    <a:pt x="0" y="1188446"/>
                  </a:cubicBezTo>
                  <a:lnTo>
                    <a:pt x="0" y="17113"/>
                  </a:lnTo>
                  <a:cubicBezTo>
                    <a:pt x="0" y="7662"/>
                    <a:pt x="7662" y="0"/>
                    <a:pt x="17113" y="0"/>
                  </a:cubicBezTo>
                  <a:close/>
                </a:path>
              </a:pathLst>
            </a:custGeom>
            <a:solidFill>
              <a:srgbClr val="8AB7E2"/>
            </a:solidFill>
            <a:ln w="9525" cap="sq">
              <a:solidFill>
                <a:srgbClr val="000000"/>
              </a:solidFill>
              <a:prstDash val="solid"/>
              <a:miter/>
            </a:ln>
          </p:spPr>
        </p:sp>
        <p:sp>
          <p:nvSpPr>
            <p:cNvPr name="TextBox 8" id="8"/>
            <p:cNvSpPr txBox="true"/>
            <p:nvPr/>
          </p:nvSpPr>
          <p:spPr>
            <a:xfrm>
              <a:off x="0" y="-38100"/>
              <a:ext cx="2569113" cy="124365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915129" y="384709"/>
            <a:ext cx="6065137" cy="4897116"/>
          </a:xfrm>
          <a:custGeom>
            <a:avLst/>
            <a:gdLst/>
            <a:ahLst/>
            <a:cxnLst/>
            <a:rect r="r" b="b" t="t" l="l"/>
            <a:pathLst>
              <a:path h="4897116" w="6065137">
                <a:moveTo>
                  <a:pt x="0" y="0"/>
                </a:moveTo>
                <a:lnTo>
                  <a:pt x="6065136" y="0"/>
                </a:lnTo>
                <a:lnTo>
                  <a:pt x="6065136" y="4897116"/>
                </a:lnTo>
                <a:lnTo>
                  <a:pt x="0" y="4897116"/>
                </a:lnTo>
                <a:lnTo>
                  <a:pt x="0" y="0"/>
                </a:lnTo>
                <a:close/>
              </a:path>
            </a:pathLst>
          </a:custGeom>
          <a:blipFill>
            <a:blip r:embed="rId4"/>
            <a:stretch>
              <a:fillRect l="0" t="0" r="0" b="0"/>
            </a:stretch>
          </a:blipFill>
        </p:spPr>
      </p:sp>
      <p:sp>
        <p:nvSpPr>
          <p:cNvPr name="Freeform 10" id="10"/>
          <p:cNvSpPr/>
          <p:nvPr/>
        </p:nvSpPr>
        <p:spPr>
          <a:xfrm flipH="false" flipV="false" rot="0">
            <a:off x="10194043" y="4999230"/>
            <a:ext cx="6250875" cy="5047084"/>
          </a:xfrm>
          <a:custGeom>
            <a:avLst/>
            <a:gdLst/>
            <a:ahLst/>
            <a:cxnLst/>
            <a:rect r="r" b="b" t="t" l="l"/>
            <a:pathLst>
              <a:path h="5047084" w="6250875">
                <a:moveTo>
                  <a:pt x="0" y="0"/>
                </a:moveTo>
                <a:lnTo>
                  <a:pt x="6250875" y="0"/>
                </a:lnTo>
                <a:lnTo>
                  <a:pt x="6250875" y="5047085"/>
                </a:lnTo>
                <a:lnTo>
                  <a:pt x="0" y="5047085"/>
                </a:lnTo>
                <a:lnTo>
                  <a:pt x="0" y="0"/>
                </a:lnTo>
                <a:close/>
              </a:path>
            </a:pathLst>
          </a:custGeom>
          <a:blipFill>
            <a:blip r:embed="rId5"/>
            <a:stretch>
              <a:fillRect l="0" t="0" r="0" b="0"/>
            </a:stretch>
          </a:blipFill>
        </p:spPr>
      </p:sp>
      <p:sp>
        <p:nvSpPr>
          <p:cNvPr name="TextBox 11" id="11"/>
          <p:cNvSpPr txBox="true"/>
          <p:nvPr/>
        </p:nvSpPr>
        <p:spPr>
          <a:xfrm rot="0">
            <a:off x="7816925" y="1188629"/>
            <a:ext cx="7572530" cy="3290738"/>
          </a:xfrm>
          <a:prstGeom prst="rect">
            <a:avLst/>
          </a:prstGeom>
        </p:spPr>
        <p:txBody>
          <a:bodyPr anchor="t" rtlCol="false" tIns="0" lIns="0" bIns="0" rIns="0">
            <a:spAutoFit/>
          </a:bodyPr>
          <a:lstStyle/>
          <a:p>
            <a:pPr algn="just">
              <a:lnSpc>
                <a:spcPts val="3742"/>
              </a:lnSpc>
            </a:pPr>
            <a:r>
              <a:rPr lang="en-US" sz="2399">
                <a:solidFill>
                  <a:srgbClr val="000000"/>
                </a:solidFill>
                <a:latin typeface="Times New Roman"/>
                <a:ea typeface="Times New Roman"/>
                <a:cs typeface="Times New Roman"/>
                <a:sym typeface="Times New Roman"/>
              </a:rPr>
              <a:t>‘YEARS_CREDIT_MEDIAN’ represents the median number of years a customer applied for some other loan before applying to the current loan.</a:t>
            </a:r>
          </a:p>
          <a:p>
            <a:pPr algn="just" marL="517964" indent="-258982" lvl="1">
              <a:lnSpc>
                <a:spcPts val="3742"/>
              </a:lnSpc>
              <a:buFont typeface="Arial"/>
              <a:buChar char="•"/>
            </a:pPr>
            <a:r>
              <a:rPr lang="en-US" sz="2399">
                <a:solidFill>
                  <a:srgbClr val="000000"/>
                </a:solidFill>
                <a:latin typeface="Times New Roman"/>
                <a:ea typeface="Times New Roman"/>
                <a:cs typeface="Times New Roman"/>
                <a:sym typeface="Times New Roman"/>
              </a:rPr>
              <a:t>A sharp and consistent trend between the feature and the default percentage of customers.</a:t>
            </a:r>
          </a:p>
          <a:p>
            <a:pPr algn="just" marL="517964" indent="-258982" lvl="1">
              <a:lnSpc>
                <a:spcPts val="3742"/>
              </a:lnSpc>
              <a:buFont typeface="Arial"/>
              <a:buChar char="•"/>
            </a:pPr>
            <a:r>
              <a:rPr lang="en-US" sz="2399">
                <a:solidFill>
                  <a:srgbClr val="000000"/>
                </a:solidFill>
                <a:latin typeface="Times New Roman"/>
                <a:ea typeface="Times New Roman"/>
                <a:cs typeface="Times New Roman"/>
                <a:sym typeface="Times New Roman"/>
              </a:rPr>
              <a:t>Customers who had applied less than a year ago are the most likely to default.</a:t>
            </a:r>
          </a:p>
        </p:txBody>
      </p:sp>
      <p:sp>
        <p:nvSpPr>
          <p:cNvPr name="TextBox 12" id="12"/>
          <p:cNvSpPr txBox="true"/>
          <p:nvPr/>
        </p:nvSpPr>
        <p:spPr>
          <a:xfrm rot="0">
            <a:off x="2420615" y="6234643"/>
            <a:ext cx="6506617" cy="3023657"/>
          </a:xfrm>
          <a:prstGeom prst="rect">
            <a:avLst/>
          </a:prstGeom>
        </p:spPr>
        <p:txBody>
          <a:bodyPr anchor="t" rtlCol="false" tIns="0" lIns="0" bIns="0" rIns="0">
            <a:spAutoFit/>
          </a:bodyPr>
          <a:lstStyle/>
          <a:p>
            <a:pPr algn="just">
              <a:lnSpc>
                <a:spcPts val="3430"/>
              </a:lnSpc>
            </a:pPr>
            <a:r>
              <a:rPr lang="en-US" sz="2199">
                <a:solidFill>
                  <a:srgbClr val="000000"/>
                </a:solidFill>
                <a:latin typeface="Times New Roman"/>
                <a:ea typeface="Times New Roman"/>
                <a:cs typeface="Times New Roman"/>
                <a:sym typeface="Times New Roman"/>
              </a:rPr>
              <a:t>‘DAYS_PAYMENT_DIFFERENCE-MEDIAN’ is the median number of days a customers pays their instalment relative to the due date.</a:t>
            </a:r>
          </a:p>
          <a:p>
            <a:pPr algn="just" marL="474785" indent="-237393" lvl="1">
              <a:lnSpc>
                <a:spcPts val="3430"/>
              </a:lnSpc>
              <a:buFont typeface="Arial"/>
              <a:buChar char="•"/>
            </a:pPr>
            <a:r>
              <a:rPr lang="en-US" sz="2199">
                <a:solidFill>
                  <a:srgbClr val="000000"/>
                </a:solidFill>
                <a:latin typeface="Times New Roman"/>
                <a:ea typeface="Times New Roman"/>
                <a:cs typeface="Times New Roman"/>
                <a:sym typeface="Times New Roman"/>
              </a:rPr>
              <a:t>Negative means that the customer pays early.</a:t>
            </a:r>
          </a:p>
          <a:p>
            <a:pPr algn="just" marL="474785" indent="-237393" lvl="1">
              <a:lnSpc>
                <a:spcPts val="3430"/>
              </a:lnSpc>
              <a:buFont typeface="Arial"/>
              <a:buChar char="•"/>
            </a:pPr>
            <a:r>
              <a:rPr lang="en-US" sz="2199">
                <a:solidFill>
                  <a:srgbClr val="000000"/>
                </a:solidFill>
                <a:latin typeface="Times New Roman"/>
                <a:ea typeface="Times New Roman"/>
                <a:cs typeface="Times New Roman"/>
                <a:sym typeface="Times New Roman"/>
              </a:rPr>
              <a:t>Positive means that the customer pays late.</a:t>
            </a:r>
          </a:p>
          <a:p>
            <a:pPr algn="just" marL="474785" indent="-237393" lvl="1">
              <a:lnSpc>
                <a:spcPts val="3430"/>
              </a:lnSpc>
              <a:buFont typeface="Arial"/>
              <a:buChar char="•"/>
            </a:pPr>
            <a:r>
              <a:rPr lang="en-US" sz="2199">
                <a:solidFill>
                  <a:srgbClr val="000000"/>
                </a:solidFill>
                <a:latin typeface="Times New Roman"/>
                <a:ea typeface="Times New Roman"/>
                <a:cs typeface="Times New Roman"/>
                <a:sym typeface="Times New Roman"/>
              </a:rPr>
              <a:t>The plot clearly shows that any customer that pays even a single day late is most likely to deafult.</a:t>
            </a:r>
          </a:p>
        </p:txBody>
      </p:sp>
      <p:sp>
        <p:nvSpPr>
          <p:cNvPr name="Freeform 13" id="13"/>
          <p:cNvSpPr/>
          <p:nvPr/>
        </p:nvSpPr>
        <p:spPr>
          <a:xfrm flipH="false" flipV="false" rot="0">
            <a:off x="-1969013" y="8790351"/>
            <a:ext cx="4292424" cy="3870986"/>
          </a:xfrm>
          <a:custGeom>
            <a:avLst/>
            <a:gdLst/>
            <a:ahLst/>
            <a:cxnLst/>
            <a:rect r="r" b="b" t="t" l="l"/>
            <a:pathLst>
              <a:path h="3870986" w="4292424">
                <a:moveTo>
                  <a:pt x="0" y="0"/>
                </a:moveTo>
                <a:lnTo>
                  <a:pt x="4292424" y="0"/>
                </a:lnTo>
                <a:lnTo>
                  <a:pt x="4292424" y="3870987"/>
                </a:lnTo>
                <a:lnTo>
                  <a:pt x="0" y="3870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3202386" y="-178494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725194"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1325889" y="1487688"/>
            <a:ext cx="10721782" cy="7724004"/>
          </a:xfrm>
          <a:custGeom>
            <a:avLst/>
            <a:gdLst/>
            <a:ahLst/>
            <a:cxnLst/>
            <a:rect r="r" b="b" t="t" l="l"/>
            <a:pathLst>
              <a:path h="7724004" w="10721782">
                <a:moveTo>
                  <a:pt x="0" y="0"/>
                </a:moveTo>
                <a:lnTo>
                  <a:pt x="10721781" y="0"/>
                </a:lnTo>
                <a:lnTo>
                  <a:pt x="10721781" y="7724004"/>
                </a:lnTo>
                <a:lnTo>
                  <a:pt x="0" y="7724004"/>
                </a:lnTo>
                <a:lnTo>
                  <a:pt x="0" y="0"/>
                </a:lnTo>
                <a:close/>
              </a:path>
            </a:pathLst>
          </a:custGeom>
          <a:blipFill>
            <a:blip r:embed="rId24"/>
            <a:stretch>
              <a:fillRect l="0" t="0" r="0" b="0"/>
            </a:stretch>
          </a:blipFill>
        </p:spPr>
      </p:sp>
      <p:grpSp>
        <p:nvGrpSpPr>
          <p:cNvPr name="Group 14" id="14"/>
          <p:cNvGrpSpPr/>
          <p:nvPr/>
        </p:nvGrpSpPr>
        <p:grpSpPr>
          <a:xfrm rot="0">
            <a:off x="12423773" y="3892807"/>
            <a:ext cx="5499924" cy="2913766"/>
            <a:chOff x="0" y="0"/>
            <a:chExt cx="2082193" cy="1103110"/>
          </a:xfrm>
        </p:grpSpPr>
        <p:sp>
          <p:nvSpPr>
            <p:cNvPr name="Freeform 15" id="15"/>
            <p:cNvSpPr/>
            <p:nvPr/>
          </p:nvSpPr>
          <p:spPr>
            <a:xfrm flipH="false" flipV="false" rot="0">
              <a:off x="0" y="0"/>
              <a:ext cx="2082192" cy="1103110"/>
            </a:xfrm>
            <a:custGeom>
              <a:avLst/>
              <a:gdLst/>
              <a:ahLst/>
              <a:cxnLst/>
              <a:rect r="r" b="b" t="t" l="l"/>
              <a:pathLst>
                <a:path h="1103110" w="2082192">
                  <a:moveTo>
                    <a:pt x="21115" y="0"/>
                  </a:moveTo>
                  <a:lnTo>
                    <a:pt x="2061078" y="0"/>
                  </a:lnTo>
                  <a:cubicBezTo>
                    <a:pt x="2066678" y="0"/>
                    <a:pt x="2072048" y="2225"/>
                    <a:pt x="2076008" y="6184"/>
                  </a:cubicBezTo>
                  <a:cubicBezTo>
                    <a:pt x="2079968" y="10144"/>
                    <a:pt x="2082192" y="15515"/>
                    <a:pt x="2082192" y="21115"/>
                  </a:cubicBezTo>
                  <a:lnTo>
                    <a:pt x="2082192" y="1081996"/>
                  </a:lnTo>
                  <a:cubicBezTo>
                    <a:pt x="2082192" y="1093657"/>
                    <a:pt x="2072739" y="1103110"/>
                    <a:pt x="2061078" y="1103110"/>
                  </a:cubicBezTo>
                  <a:lnTo>
                    <a:pt x="21115" y="1103110"/>
                  </a:lnTo>
                  <a:cubicBezTo>
                    <a:pt x="9453" y="1103110"/>
                    <a:pt x="0" y="1093657"/>
                    <a:pt x="0" y="1081996"/>
                  </a:cubicBezTo>
                  <a:lnTo>
                    <a:pt x="0" y="21115"/>
                  </a:lnTo>
                  <a:cubicBezTo>
                    <a:pt x="0" y="9453"/>
                    <a:pt x="9453" y="0"/>
                    <a:pt x="21115" y="0"/>
                  </a:cubicBezTo>
                  <a:close/>
                </a:path>
              </a:pathLst>
            </a:custGeom>
            <a:solidFill>
              <a:srgbClr val="8AB7E2">
                <a:alpha val="64706"/>
              </a:srgbClr>
            </a:solidFill>
            <a:ln w="9525" cap="sq">
              <a:solidFill>
                <a:srgbClr val="000000">
                  <a:alpha val="64706"/>
                </a:srgbClr>
              </a:solidFill>
              <a:prstDash val="solid"/>
              <a:miter/>
            </a:ln>
          </p:spPr>
        </p:sp>
        <p:sp>
          <p:nvSpPr>
            <p:cNvPr name="TextBox 16" id="16"/>
            <p:cNvSpPr txBox="true"/>
            <p:nvPr/>
          </p:nvSpPr>
          <p:spPr>
            <a:xfrm>
              <a:off x="0" y="-38100"/>
              <a:ext cx="2082193" cy="11412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12717419" y="3901356"/>
            <a:ext cx="4952045" cy="2886879"/>
          </a:xfrm>
          <a:prstGeom prst="rect">
            <a:avLst/>
          </a:prstGeom>
        </p:spPr>
        <p:txBody>
          <a:bodyPr anchor="t" rtlCol="false" tIns="0" lIns="0" bIns="0" rIns="0">
            <a:spAutoFit/>
          </a:bodyPr>
          <a:lstStyle/>
          <a:p>
            <a:pPr algn="just">
              <a:lnSpc>
                <a:spcPts val="4522"/>
              </a:lnSpc>
            </a:pPr>
            <a:r>
              <a:rPr lang="en-US" sz="2899">
                <a:solidFill>
                  <a:srgbClr val="000000"/>
                </a:solidFill>
                <a:latin typeface="Times New Roman"/>
                <a:ea typeface="Times New Roman"/>
                <a:cs typeface="Times New Roman"/>
                <a:sym typeface="Times New Roman"/>
              </a:rPr>
              <a:t>Feature Importance of each feature according to LightBGM classification model. The plot shows the top 20 most important features.</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883028" y="210262"/>
            <a:ext cx="16932644" cy="1179677"/>
          </a:xfrm>
          <a:prstGeom prst="rect">
            <a:avLst/>
          </a:prstGeom>
        </p:spPr>
        <p:txBody>
          <a:bodyPr anchor="t" rtlCol="false" tIns="0" lIns="0" bIns="0" rIns="0">
            <a:spAutoFit/>
          </a:bodyPr>
          <a:lstStyle/>
          <a:p>
            <a:pPr algn="ctr">
              <a:lnSpc>
                <a:spcPts val="7544"/>
              </a:lnSpc>
            </a:pPr>
            <a:r>
              <a:rPr lang="en-US" sz="8025">
                <a:solidFill>
                  <a:srgbClr val="000000"/>
                </a:solidFill>
                <a:latin typeface="Times New Roman Bold"/>
                <a:ea typeface="Times New Roman Bold"/>
                <a:cs typeface="Times New Roman Bold"/>
                <a:sym typeface="Times New Roman Bold"/>
              </a:rPr>
              <a:t>Interpretations and Recommandations</a:t>
            </a:r>
          </a:p>
        </p:txBody>
      </p:sp>
      <p:grpSp>
        <p:nvGrpSpPr>
          <p:cNvPr name="Group 3" id="3"/>
          <p:cNvGrpSpPr/>
          <p:nvPr/>
        </p:nvGrpSpPr>
        <p:grpSpPr>
          <a:xfrm rot="0">
            <a:off x="358959" y="1456630"/>
            <a:ext cx="17596747" cy="8645284"/>
            <a:chOff x="0" y="0"/>
            <a:chExt cx="6661876" cy="3272981"/>
          </a:xfrm>
        </p:grpSpPr>
        <p:sp>
          <p:nvSpPr>
            <p:cNvPr name="Freeform 4" id="4"/>
            <p:cNvSpPr/>
            <p:nvPr/>
          </p:nvSpPr>
          <p:spPr>
            <a:xfrm flipH="false" flipV="false" rot="0">
              <a:off x="0" y="0"/>
              <a:ext cx="6661876" cy="3272980"/>
            </a:xfrm>
            <a:custGeom>
              <a:avLst/>
              <a:gdLst/>
              <a:ahLst/>
              <a:cxnLst/>
              <a:rect r="r" b="b" t="t" l="l"/>
              <a:pathLst>
                <a:path h="3272980" w="6661876">
                  <a:moveTo>
                    <a:pt x="6599" y="0"/>
                  </a:moveTo>
                  <a:lnTo>
                    <a:pt x="6655277" y="0"/>
                  </a:lnTo>
                  <a:cubicBezTo>
                    <a:pt x="6657027" y="0"/>
                    <a:pt x="6658706" y="695"/>
                    <a:pt x="6659943" y="1933"/>
                  </a:cubicBezTo>
                  <a:cubicBezTo>
                    <a:pt x="6661181" y="3171"/>
                    <a:pt x="6661876" y="4849"/>
                    <a:pt x="6661876" y="6599"/>
                  </a:cubicBezTo>
                  <a:lnTo>
                    <a:pt x="6661876" y="3266381"/>
                  </a:lnTo>
                  <a:cubicBezTo>
                    <a:pt x="6661876" y="3268131"/>
                    <a:pt x="6661181" y="3269810"/>
                    <a:pt x="6659943" y="3271048"/>
                  </a:cubicBezTo>
                  <a:cubicBezTo>
                    <a:pt x="6658706" y="3272285"/>
                    <a:pt x="6657027" y="3272980"/>
                    <a:pt x="6655277" y="3272980"/>
                  </a:cubicBezTo>
                  <a:lnTo>
                    <a:pt x="6599" y="3272980"/>
                  </a:lnTo>
                  <a:cubicBezTo>
                    <a:pt x="4849" y="3272980"/>
                    <a:pt x="3171" y="3272285"/>
                    <a:pt x="1933" y="3271048"/>
                  </a:cubicBezTo>
                  <a:cubicBezTo>
                    <a:pt x="695" y="3269810"/>
                    <a:pt x="0" y="3268131"/>
                    <a:pt x="0" y="3266381"/>
                  </a:cubicBezTo>
                  <a:lnTo>
                    <a:pt x="0" y="6599"/>
                  </a:lnTo>
                  <a:cubicBezTo>
                    <a:pt x="0" y="4849"/>
                    <a:pt x="695" y="3171"/>
                    <a:pt x="1933" y="1933"/>
                  </a:cubicBezTo>
                  <a:cubicBezTo>
                    <a:pt x="3171" y="695"/>
                    <a:pt x="4849" y="0"/>
                    <a:pt x="6599" y="0"/>
                  </a:cubicBezTo>
                  <a:close/>
                </a:path>
              </a:pathLst>
            </a:custGeom>
            <a:solidFill>
              <a:srgbClr val="8AB7E2">
                <a:alpha val="50980"/>
              </a:srgbClr>
            </a:solidFill>
            <a:ln w="9525" cap="sq">
              <a:solidFill>
                <a:srgbClr val="000000">
                  <a:alpha val="50980"/>
                </a:srgbClr>
              </a:solidFill>
              <a:prstDash val="solid"/>
              <a:miter/>
            </a:ln>
          </p:spPr>
        </p:sp>
        <p:sp>
          <p:nvSpPr>
            <p:cNvPr name="TextBox 5" id="5"/>
            <p:cNvSpPr txBox="true"/>
            <p:nvPr/>
          </p:nvSpPr>
          <p:spPr>
            <a:xfrm>
              <a:off x="0" y="-38100"/>
              <a:ext cx="6661876" cy="331108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158557" y="1475680"/>
            <a:ext cx="17657116" cy="8462284"/>
          </a:xfrm>
          <a:prstGeom prst="rect">
            <a:avLst/>
          </a:prstGeom>
        </p:spPr>
        <p:txBody>
          <a:bodyPr anchor="t" rtlCol="false" tIns="0" lIns="0" bIns="0" rIns="0">
            <a:spAutoFit/>
          </a:bodyPr>
          <a:lstStyle/>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The age of the customer plays a major role in explaining their repayment behavior. Young clients with age less than 30 years are most likely to default while older clients with age over 45 years are comparatively less likely to default. This may be due to the fact that older individuals have more financial experience.</a:t>
            </a:r>
          </a:p>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When the customer has recent ongoing or completed loans, they are more likely to default than a customer who had completed loans more than 2 years ago. This can be attributed to inability to pay all the ongoing instalments at once.</a:t>
            </a:r>
          </a:p>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A customer that has had even a single late instalment payment in any of the loans in the past is twice more likely to default again in the current loan. Major reason can be their lack of credit management</a:t>
            </a:r>
          </a:p>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The loan approval process has to be made more stringent especially for customers having age below 35 years, or, who have no or low external credit scores (below 0.5), or, who have various ongoing or recently completed loans (within a year), or, who have changed their personal ID recently (within 1.5 years), or, who have made late payments even once. </a:t>
            </a:r>
          </a:p>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The unimportant variables should continue to be recorded as some important features have correlations with other features, this helps in imputing the values of these important features with the help of other features.</a:t>
            </a:r>
          </a:p>
          <a:p>
            <a:pPr algn="just" marL="625911" indent="-312956" lvl="1">
              <a:lnSpc>
                <a:spcPts val="3971"/>
              </a:lnSpc>
              <a:buFont typeface="Arial"/>
              <a:buChar char="•"/>
            </a:pPr>
            <a:r>
              <a:rPr lang="en-US" sz="2899">
                <a:solidFill>
                  <a:srgbClr val="000000"/>
                </a:solidFill>
                <a:latin typeface="Times New Roman"/>
                <a:ea typeface="Times New Roman"/>
                <a:cs typeface="Times New Roman"/>
                <a:sym typeface="Times New Roman"/>
              </a:rPr>
              <a:t>Personal Loans should be awarded after some down payment by the customer. Zero down payment option should only be given to those customers who have had previous loans with Home Credit with no late payments.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DAGPOYJ1TVQ</dc:identifier>
  <dcterms:modified xsi:type="dcterms:W3CDTF">2011-08-01T06:04:30Z</dcterms:modified>
  <cp:revision>1</cp:revision>
  <dc:title>DEFAULTER ANALYSIS AND CLASSIFICATION FOR A MONEY LENDING COMPANY</dc:title>
</cp:coreProperties>
</file>